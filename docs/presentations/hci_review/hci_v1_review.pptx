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hci_diagram1.svg" ContentType="image/svg+xml"/>
  <Override PartName="/ppt/media/hci_diagram2.svg" ContentType="image/svg+xml"/>
  <Override PartName="/ppt/media/hci_diagram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deck for the HCI v1 formulation. It covers the problem, the intern prototype and why it was not adopted, the synthetic benchmark and its rationale, the algorithm step by step, validation evidence, the owner's delta_max rule and its consequences, results on the report's real micrographs, the implementation and the caveats.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synthetic masks have area fraction 5.0 % and length-weighted Fn = 1.00, because every hydride is radial. Yet a crack path through the continuous lines crosses far less matrix than one through isolated platelets. Area fraction and Fn cannot distinguish them; the HCI radial (fixed delta_max = 10 um) does: 0.20, 0.44, 0.55.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RHCF: Billone, Burtseva, Einziger, J. Nucl. Mater. 433 (2013) 431. HCC: Kim et al., J. Nucl. Mater. 456 (2015) 235. RHCP: Simon et al., J. Nucl. Mater. 547 (2021) 152817; Dijkstra implementation PROPHET, J. Nucl. Mater. 567 (2022). Our companion path continuity Pi is explicitly RHCP-type; novelty is claimed for the integrated linkage HCI, the critical linking distance, the closure identity and the constant-Af benchmark with axioms.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Prototype: w_i = ((B_i+1)/N_i)(Lbar/d_min,i), HCI = sum(A_i w_i)/sum(A_i). Reported values 2.59, 3.38, 8.02 for 25, 70, 200 ppm. The report's own masks have area fractions 5.3, 9.1 and 13.7 %, so the rise cannot be attributed to connectivity. Re-running the unchanged prototype on the report masks gives 2.44, 3.12, 6.97 (figure resolution).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masks at Af = 5 %. (a) HCI falls when collinear chains finally merge. (b) A single connected cluster has no neighbour distance, so rings and the fully connected honeycomb mesh score 0. (c) Identical lines rotated vary by 15 % CV although the formula is isotropic. (d) Transpose changes it by 7.7 %, resolution by up to 6.8 %, roughness by 19 %. Also: two code paths disagree (6.05 vs 4.41), and six percolating masks exceeded 300 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axioms turn the scientific intent into pass/fail tests. A1 is the key one: at constant area fraction the index must rank arrangements by connectivity.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sample is a centreline graph (nodes, straight edges) rasterised as 4 px capsules. The graph gives exact ground truth: length, ends, junction degrees, loops, components and closure. A size parameter is solved so that the raster area fraction is 5.00 ± 0.05 %. Separate objects keep at least 12 px (6 um) of matrix. 203 masks regenerate bit-for-bit (tested).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 sweep: 10 chains of 3 collinear radial segments; surface gap 40, 20, 10, 6, 3 px, then merged. Isolates linking of collinear hydrides. Fragmentation: the same total length split into 8 to 128 radial pieces. Isolates fragment length at fixed amount.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Arrangement: 36 equal segments placed randomly (circumferential, isotropic, radial), as stringers with 3 um gaps, as stepped linked staircases, or merged into continuous lines. Orientation: 12 identical lines rotated 0 to 90 degrees from the circumferential axis.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Topology: equal total length as lines, Y (degree 3), X (degree 4), branched trees, hexagonal rings, and one honeycomb mesh; exact ends, junction degrees and loops known. Boolean model: overlapping random 60 px sticks at Af = 2 to 20 %, isotropic and radial, the classical continuum-percolation system; this family deliberately varies Af.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Invariance: transpose, flips, resolution x0.5 and x2 (pixel size recorded), boundary roughness (10 % boundary pixel flips), speckle below the clean-up size, pinholes, spurs and 2-px breaks. Degenerate: empty, sub-threshold speck, a single segment, a border-to-border line, a ring, a single mesh cluster and a pair of lines.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Components are linked when the matrix ligament between them is at most delta (single linkage; bridges are synthetic and add no area). C(delta) is the area-weighted fraction of the reference length covered by the cluster each hydride belongs to, using projected coverage so gaps add no extent. The HCI is the mean of C over 0 to delta_max: bounded, monotone and threshold-free inside the range.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binarise and clean (5 um2, 2x2 px floor); label 8-connected components; gap graph from the Euclidean distance transform (Voronoi neighbours contain the MST, so single linkage is exact); Kruskal merges give the exact step function C_u(delta); exact integral; companions path continuity and skeleton topology; quality flags; result schema microseg.hci_result.v1.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Input: arrangement__radial_stringers__r00 (Af 5 %, 0.5 um/px). Components below 5 um2 would be removed; holes below 5 um2 filled; a 2x2 px floor applies at coarse resolution.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Background colours show the nearest component of every matrix pixel. Red lines are minimum-spanning gap edges with their surface gap in um; the 3 um stringer gaps are the shortest.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Clusters are single-linkage components at each delta. Bridges add no area and are drawn in red only in overlays.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largest cluster and the rows its hydride covers (bridged gaps add none). Right: exact step functions for three directions; the shaded area divided by delta_max is HCI radial; dots mark delta_half.</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Path continuity: two Dijkstra sweeps; ligament of the cheapest edge-to-edge path through each pixel. Topology: ends, collapsed junctions and loops from the Euler number; identity N_E = beta + 2C - 2mu holds exactly (kappa = 0 for these free-ended stringers).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Mean +/- SD over replicates. HCI radial rises strictly as gaps close (0.22 to 0.66), falls with fragmentation, separates random (0.20), stringers (0.44), stepped (0.53) and continuous (0.55), follows orientation, and gives the mesh the maximum. The Boolean model shows the expected percolation rise with Af.</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Prototype from the unchanged intern script (candidate study). v1 from the production library with fixed delta_max = 10 um. Ordering = replicates in the expected order (tolerance 0.01). Changes are maximum relative changes over the three invariance reference samples.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Owner decision: delta_max = 1/5 of the smallest accepted hydride. It is scale-free, but it is recomputed per image, so different images are integrated over different ranges (arrangement 3/5, orientation 1/3), and one small fragment sets the range for the whole image (-61 % under 2-px breaks). A median rule fixes the break sensitivity (2.4 %) but not comparability; fixed 10 um passes everything. The web UI offers all three; the Help and docs require a fixed value for comparisons.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are the report's Table 2 figures: optical 513x384 (100 um bar = 46.5 px, 2.15 um/px) and the intern's masks 344x258 (3.21 um/px). Columns: optical micrograph; intern mask; HCI clusters at delta_max = 10 um (red = bridges); MicroSeg ML re-segmentation of the optical image with its clusters. Figure resolution only, so values are indicative.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Nearest-component map and minimum-spanning gap edges (um) for the 200 ppm report mask at 3.21 um/px.</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Clusters at delta = 0, 5, 10 and 20 um; the number of clusters falls 130 → 20 while C_R stays low because the clusters run circumferentially.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Largest cluster coverage and the three connectivity step functions for the 200 ppm mask; delta_max = 10 um.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Pi_R and skeleton topology for the 200 ppm mask; identity residual 0 after the resolution floor and bookkeeping fixes.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v1 values separate effects the single prototype number merged. Area fraction also rises (5 to 14 %), so this series alone cannot separate amount from connectivity; the benchmark does. At 3.2 um/px the owner's auto rule floors delta_max to one pixel (smallest accepted hydride about 10 um long).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Web: section 5 'Connectivity (HCI)' is ticked by default; delta_max mode (auto smallest / auto median / fixed), optional pixel size and radial reference length. Results panel shows HCI radial, circumferential and isotropic with delta_half, delta_max, counts and quality flags; views for clusters, curve, topology and path; a PDF page and an XLSX Connectivity sheet. CLI: microseg_cli.py hci. Python: analyze_continuity().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Web Help section 'Hydride Connectivity Index (HCI)': definitions, connectivity function, delta_max rule with the comparison warning, companions, properties, algorithm, settings and reporting rules. Sphinx: docs/hci_theory.md (propositions and proofs, closure identity, algorithm and complexity), docs/hci_user_guide.md, docs/hci_specification.md, docs/hci_synthetic_benchmark.md.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caveat is also flagged in the result JSON where it can be detected automatically: uncalibrated lengths, largest cluster touching the border, extent capped at the reference length, hydride thickness below 3 px, clean-up thresholds raised to the resolution floor, topology identity residual non-zero. The web panel shows the flags (right).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field-data validation by the owner's team (repeat fields, bootstrap CIs, predicted versus corrected masks, expert ranking, correlation with ring compression, DBTT or DHC), the desktop (Qt) card, and a faster path solver. Manuscript outline in docs/hci_implementation_plan.md.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hci_diagram1.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hci_diagram2.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hci_diagram3.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29.png"/><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600" b="1">
                <a:solidFill>
                  <a:srgbClr val="FFFFFF"/>
                </a:solidFill>
                <a:latin typeface="Arial"/>
              </a:rPr>
              <a:t>Hydride Connectivity Index (HCI) v1: problem, method, validation, results</a:t>
            </a:r>
          </a:p>
        </p:txBody>
      </p:sp>
      <p:sp>
        <p:nvSpPr>
          <p:cNvPr id="3" name="Rectangle 2"/>
          <p:cNvSpPr/>
          <p:nvPr/>
        </p:nvSpPr>
        <p:spPr>
          <a:xfrm>
            <a:off x="0" y="6199632"/>
            <a:ext cx="12191695"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000" b="0">
                <a:solidFill>
                  <a:srgbClr val="FFFFFF"/>
                </a:solidFill>
                <a:latin typeface="Arial"/>
              </a:rPr>
              <a:t>A bounded, threshold-free connectivity index validated at constant area fraction (MicroSeg 2.0.0)</a:t>
            </a:r>
          </a:p>
        </p:txBody>
      </p:sp>
      <p:pic>
        <p:nvPicPr>
          <p:cNvPr id="4" name="Picture 3" descr="hci_concept.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13535" y="868680"/>
            <a:ext cx="9564624" cy="4782312"/>
          </a:xfrm>
          <a:prstGeom prst="rect">
            <a:avLst/>
          </a:prstGeom>
        </p:spPr>
      </p:pic>
      <p:sp>
        <p:nvSpPr>
          <p:cNvPr id="5" name="TextBox 4"/>
          <p:cNvSpPr txBox="1"/>
          <p:nvPr/>
        </p:nvSpPr>
        <p:spPr>
          <a:xfrm>
            <a:off x="320040" y="5669280"/>
            <a:ext cx="11551615" cy="411480"/>
          </a:xfrm>
          <a:prstGeom prst="rect">
            <a:avLst/>
          </a:prstGeom>
          <a:noFill/>
        </p:spPr>
        <p:txBody>
          <a:bodyPr wrap="none">
            <a:spAutoFit/>
          </a:bodyPr>
          <a:lstStyle/>
          <a:p>
            <a:pPr algn="ctr"/>
            <a:r>
              <a:rPr sz="1800">
                <a:solidFill>
                  <a:srgbClr val="556677"/>
                </a:solidFill>
                <a:latin typeface="Arial"/>
              </a:rPr>
              <a:t>MicroSeg 2.0.0  ·  formulation hci.v1  ·  review deck, 27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600" b="1">
                <a:solidFill>
                  <a:srgbClr val="FFFFFF"/>
                </a:solidFill>
                <a:latin typeface="Arial"/>
              </a:rPr>
              <a:t>The problem: amount and orientation do not describe connectivity</a:t>
            </a:r>
          </a:p>
        </p:txBody>
      </p:sp>
      <p:sp>
        <p:nvSpPr>
          <p:cNvPr id="3" name="Rectangle 2"/>
          <p:cNvSpPr/>
          <p:nvPr/>
        </p:nvSpPr>
        <p:spPr>
          <a:xfrm>
            <a:off x="0" y="6199632"/>
            <a:ext cx="12191695"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000" b="0">
                <a:solidFill>
                  <a:srgbClr val="FFFFFF"/>
                </a:solidFill>
                <a:latin typeface="Arial"/>
              </a:rPr>
              <a:t>Same area fraction, same Fn — very different connectivity: a new descriptor is needed</a:t>
            </a:r>
          </a:p>
        </p:txBody>
      </p:sp>
      <p:pic>
        <p:nvPicPr>
          <p:cNvPr id="4" name="Picture 3" descr="problem_same_af.png"/>
          <p:cNvPicPr>
            <a:picLocks noChangeAspect="1"/>
          </p:cNvPicPr>
          <p:nvPr/>
        </p:nvPicPr>
        <p:blipFill>
          <a:blip r:embed="rId3"/>
          <a:stretch>
            <a:fillRect/>
          </a:stretch>
        </p:blipFill>
        <p:spPr>
          <a:xfrm>
            <a:off x="228600" y="1210462"/>
            <a:ext cx="11734495" cy="4510227"/>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600" b="1">
                <a:solidFill>
                  <a:srgbClr val="FFFFFF"/>
                </a:solidFill>
                <a:latin typeface="Arial"/>
              </a:rPr>
              <a:t>Existing hydride descriptors and where the HCI fits</a:t>
            </a:r>
          </a:p>
        </p:txBody>
      </p:sp>
      <p:sp>
        <p:nvSpPr>
          <p:cNvPr id="3" name="Rectangle 2"/>
          <p:cNvSpPr/>
          <p:nvPr/>
        </p:nvSpPr>
        <p:spPr>
          <a:xfrm>
            <a:off x="0" y="6199632"/>
            <a:ext cx="12191695"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000" b="0">
                <a:solidFill>
                  <a:srgbClr val="FFFFFF"/>
                </a:solidFill>
                <a:latin typeface="Arial"/>
              </a:rPr>
              <a:t>None separates connectivity from amount under controlled tests — that is the gap v1 fills</a:t>
            </a:r>
          </a:p>
        </p:txBody>
      </p:sp>
      <p:graphicFrame>
        <p:nvGraphicFramePr>
          <p:cNvPr id="4" name="Table 3"/>
          <p:cNvGraphicFramePr>
            <a:graphicFrameLocks noGrp="1"/>
          </p:cNvGraphicFramePr>
          <p:nvPr/>
        </p:nvGraphicFramePr>
        <p:xfrm>
          <a:off x="411480" y="1143000"/>
          <a:ext cx="11365992" cy="4224528"/>
        </p:xfrm>
        <a:graphic>
          <a:graphicData uri="http://schemas.openxmlformats.org/drawingml/2006/table">
            <a:tbl>
              <a:tblPr firstRow="1" bandRow="1">
                <a:tableStyleId>{5C22544A-7EE6-4342-B048-85BDC9FD1C3A}</a:tableStyleId>
              </a:tblPr>
              <a:tblGrid>
                <a:gridCol w="2377440"/>
                <a:gridCol w="4846320"/>
                <a:gridCol w="4142232"/>
              </a:tblGrid>
              <a:tr h="603504">
                <a:tc>
                  <a:txBody>
                    <a:bodyPr wrap="square"/>
                    <a:lstStyle/>
                    <a:p>
                      <a:pPr algn="l"/>
                      <a:r>
                        <a:rPr sz="1800" b="1">
                          <a:solidFill>
                            <a:srgbClr val="FFFFFF"/>
                          </a:solidFill>
                          <a:latin typeface="Arial"/>
                        </a:rPr>
                        <a:t>Descriptor</a:t>
                      </a:r>
                    </a:p>
                  </a:txBody>
                  <a:tcPr marL="54864" marR="54864" marT="18288" marB="18288" anchor="ctr">
                    <a:solidFill>
                      <a:srgbClr val="1D3557"/>
                    </a:solidFill>
                  </a:tcPr>
                </a:tc>
                <a:tc>
                  <a:txBody>
                    <a:bodyPr wrap="square"/>
                    <a:lstStyle/>
                    <a:p>
                      <a:pPr algn="ctr"/>
                      <a:r>
                        <a:rPr sz="1800" b="1">
                          <a:solidFill>
                            <a:srgbClr val="FFFFFF"/>
                          </a:solidFill>
                          <a:latin typeface="Arial"/>
                        </a:rPr>
                        <a:t>What it measures</a:t>
                      </a:r>
                    </a:p>
                  </a:txBody>
                  <a:tcPr marL="54864" marR="54864" marT="18288" marB="18288" anchor="ctr">
                    <a:solidFill>
                      <a:srgbClr val="1D3557"/>
                    </a:solidFill>
                  </a:tcPr>
                </a:tc>
                <a:tc>
                  <a:txBody>
                    <a:bodyPr wrap="square"/>
                    <a:lstStyle/>
                    <a:p>
                      <a:pPr algn="ctr"/>
                      <a:r>
                        <a:rPr sz="1800" b="1">
                          <a:solidFill>
                            <a:srgbClr val="FFFFFF"/>
                          </a:solidFill>
                          <a:latin typeface="Arial"/>
                        </a:rPr>
                        <a:t>Limitation for connectivity</a:t>
                      </a:r>
                    </a:p>
                  </a:txBody>
                  <a:tcPr marL="54864" marR="54864" marT="18288" marB="18288" anchor="ctr">
                    <a:solidFill>
                      <a:srgbClr val="1D3557"/>
                    </a:solidFill>
                  </a:tcPr>
                </a:tc>
              </a:tr>
              <a:tr h="603504">
                <a:tc>
                  <a:txBody>
                    <a:bodyPr wrap="square"/>
                    <a:lstStyle/>
                    <a:p>
                      <a:pPr algn="l"/>
                      <a:r>
                        <a:rPr sz="1800" b="1">
                          <a:solidFill>
                            <a:srgbClr val="1F2A33"/>
                          </a:solidFill>
                          <a:latin typeface="Arial"/>
                        </a:rPr>
                        <a:t>RHF / Fn</a:t>
                      </a:r>
                    </a:p>
                  </a:txBody>
                  <a:tcPr marL="54864" marR="54864" marT="18288" marB="18288" anchor="ctr">
                    <a:solidFill>
                      <a:srgbClr val="F2F5F8"/>
                    </a:solidFill>
                  </a:tcPr>
                </a:tc>
                <a:tc>
                  <a:txBody>
                    <a:bodyPr wrap="square"/>
                    <a:lstStyle/>
                    <a:p>
                      <a:pPr algn="ctr"/>
                      <a:r>
                        <a:rPr sz="1800" b="0">
                          <a:solidFill>
                            <a:srgbClr val="1F2A33"/>
                          </a:solidFill>
                          <a:latin typeface="Arial"/>
                        </a:rPr>
                        <a:t>Share of radial hydrides</a:t>
                      </a:r>
                    </a:p>
                  </a:txBody>
                  <a:tcPr marL="54864" marR="54864" marT="18288" marB="18288" anchor="ctr">
                    <a:solidFill>
                      <a:srgbClr val="F2F5F8"/>
                    </a:solidFill>
                  </a:tcPr>
                </a:tc>
                <a:tc>
                  <a:txBody>
                    <a:bodyPr wrap="square"/>
                    <a:lstStyle/>
                    <a:p>
                      <a:pPr algn="ctr"/>
                      <a:r>
                        <a:rPr sz="1800" b="0">
                          <a:solidFill>
                            <a:srgbClr val="1F2A33"/>
                          </a:solidFill>
                          <a:latin typeface="Arial"/>
                        </a:rPr>
                        <a:t>Orientation only; no linkage</a:t>
                      </a:r>
                    </a:p>
                  </a:txBody>
                  <a:tcPr marL="54864" marR="54864" marT="18288" marB="18288" anchor="ctr">
                    <a:solidFill>
                      <a:srgbClr val="F2F5F8"/>
                    </a:solidFill>
                  </a:tcPr>
                </a:tc>
              </a:tr>
              <a:tr h="603504">
                <a:tc>
                  <a:txBody>
                    <a:bodyPr wrap="square"/>
                    <a:lstStyle/>
                    <a:p>
                      <a:pPr algn="l"/>
                      <a:r>
                        <a:rPr sz="1800" b="1">
                          <a:solidFill>
                            <a:srgbClr val="1F2A33"/>
                          </a:solidFill>
                          <a:latin typeface="Arial"/>
                        </a:rPr>
                        <a:t>HCC (Kim 2015)</a:t>
                      </a:r>
                    </a:p>
                  </a:txBody>
                  <a:tcPr marL="54864" marR="54864" marT="18288" marB="18288" anchor="ctr">
                    <a:solidFill>
                      <a:srgbClr val="FFFFFF"/>
                    </a:solidFill>
                  </a:tcPr>
                </a:tc>
                <a:tc>
                  <a:txBody>
                    <a:bodyPr wrap="square"/>
                    <a:lstStyle/>
                    <a:p>
                      <a:pPr algn="ctr"/>
                      <a:r>
                        <a:rPr sz="1800" b="0">
                          <a:solidFill>
                            <a:srgbClr val="1F2A33"/>
                          </a:solidFill>
                          <a:latin typeface="Arial"/>
                        </a:rPr>
                        <a:t>Radial length of near-continuous hydrides in a band</a:t>
                      </a:r>
                    </a:p>
                  </a:txBody>
                  <a:tcPr marL="54864" marR="54864" marT="18288" marB="18288" anchor="ctr">
                    <a:solidFill>
                      <a:srgbClr val="FFFFFF"/>
                    </a:solidFill>
                  </a:tcPr>
                </a:tc>
                <a:tc>
                  <a:txBody>
                    <a:bodyPr wrap="square"/>
                    <a:lstStyle/>
                    <a:p>
                      <a:pPr algn="ctr"/>
                      <a:r>
                        <a:rPr sz="1800" b="0">
                          <a:solidFill>
                            <a:srgbClr val="1F2A33"/>
                          </a:solidFill>
                          <a:latin typeface="Arial"/>
                        </a:rPr>
                        <a:t>Empirical band and closeness rules</a:t>
                      </a:r>
                    </a:p>
                  </a:txBody>
                  <a:tcPr marL="54864" marR="54864" marT="18288" marB="18288" anchor="ctr">
                    <a:solidFill>
                      <a:srgbClr val="FFFFFF"/>
                    </a:solidFill>
                  </a:tcPr>
                </a:tc>
              </a:tr>
              <a:tr h="603504">
                <a:tc>
                  <a:txBody>
                    <a:bodyPr wrap="square"/>
                    <a:lstStyle/>
                    <a:p>
                      <a:pPr algn="l"/>
                      <a:r>
                        <a:rPr sz="1800" b="1">
                          <a:solidFill>
                            <a:srgbClr val="1F2A33"/>
                          </a:solidFill>
                          <a:latin typeface="Arial"/>
                        </a:rPr>
                        <a:t>RHCF (Billone 2013)</a:t>
                      </a:r>
                    </a:p>
                  </a:txBody>
                  <a:tcPr marL="54864" marR="54864" marT="18288" marB="18288" anchor="ctr">
                    <a:solidFill>
                      <a:srgbClr val="F2F5F8"/>
                    </a:solidFill>
                  </a:tcPr>
                </a:tc>
                <a:tc>
                  <a:txBody>
                    <a:bodyPr wrap="square"/>
                    <a:lstStyle/>
                    <a:p>
                      <a:pPr algn="ctr"/>
                      <a:r>
                        <a:rPr sz="1800" b="0">
                          <a:solidFill>
                            <a:srgbClr val="1F2A33"/>
                          </a:solidFill>
                          <a:latin typeface="Arial"/>
                        </a:rPr>
                        <a:t>Max radial hydride length in an arc window</a:t>
                      </a:r>
                    </a:p>
                  </a:txBody>
                  <a:tcPr marL="54864" marR="54864" marT="18288" marB="18288" anchor="ctr">
                    <a:solidFill>
                      <a:srgbClr val="F2F5F8"/>
                    </a:solidFill>
                  </a:tcPr>
                </a:tc>
                <a:tc>
                  <a:txBody>
                    <a:bodyPr wrap="square"/>
                    <a:lstStyle/>
                    <a:p>
                      <a:pPr algn="ctr"/>
                      <a:r>
                        <a:rPr sz="1800" b="0">
                          <a:solidFill>
                            <a:srgbClr val="1F2A33"/>
                          </a:solidFill>
                          <a:latin typeface="Arial"/>
                        </a:rPr>
                        <a:t>Window-based; one direction</a:t>
                      </a:r>
                    </a:p>
                  </a:txBody>
                  <a:tcPr marL="54864" marR="54864" marT="18288" marB="18288" anchor="ctr">
                    <a:solidFill>
                      <a:srgbClr val="F2F5F8"/>
                    </a:solidFill>
                  </a:tcPr>
                </a:tc>
              </a:tr>
              <a:tr h="603504">
                <a:tc>
                  <a:txBody>
                    <a:bodyPr wrap="square"/>
                    <a:lstStyle/>
                    <a:p>
                      <a:pPr algn="l"/>
                      <a:r>
                        <a:rPr sz="1800" b="1">
                          <a:solidFill>
                            <a:srgbClr val="1F2A33"/>
                          </a:solidFill>
                          <a:latin typeface="Arial"/>
                        </a:rPr>
                        <a:t>RHCP (Simon 2021)</a:t>
                      </a:r>
                    </a:p>
                  </a:txBody>
                  <a:tcPr marL="54864" marR="54864" marT="18288" marB="18288" anchor="ctr">
                    <a:solidFill>
                      <a:srgbClr val="FFFFFF"/>
                    </a:solidFill>
                  </a:tcPr>
                </a:tc>
                <a:tc>
                  <a:txBody>
                    <a:bodyPr wrap="square"/>
                    <a:lstStyle/>
                    <a:p>
                      <a:pPr algn="ctr"/>
                      <a:r>
                        <a:rPr sz="1800" b="0">
                          <a:solidFill>
                            <a:srgbClr val="1F2A33"/>
                          </a:solidFill>
                          <a:latin typeface="Arial"/>
                        </a:rPr>
                        <a:t>Optimal through-wall crack path (toughness-weighted)</a:t>
                      </a:r>
                    </a:p>
                  </a:txBody>
                  <a:tcPr marL="54864" marR="54864" marT="18288" marB="18288" anchor="ctr">
                    <a:solidFill>
                      <a:srgbClr val="FFFFFF"/>
                    </a:solidFill>
                  </a:tcPr>
                </a:tc>
                <a:tc>
                  <a:txBody>
                    <a:bodyPr wrap="square"/>
                    <a:lstStyle/>
                    <a:p>
                      <a:pPr algn="ctr"/>
                      <a:r>
                        <a:rPr sz="1800" b="0">
                          <a:solidFill>
                            <a:srgbClr val="1F2A33"/>
                          </a:solidFill>
                          <a:latin typeface="Arial"/>
                        </a:rPr>
                        <a:t>Single weakest path; toughness ratio assumed</a:t>
                      </a:r>
                    </a:p>
                  </a:txBody>
                  <a:tcPr marL="54864" marR="54864" marT="18288" marB="18288" anchor="ctr">
                    <a:solidFill>
                      <a:srgbClr val="FFFFFF"/>
                    </a:solidFill>
                  </a:tcPr>
                </a:tc>
              </a:tr>
              <a:tr h="603504">
                <a:tc>
                  <a:txBody>
                    <a:bodyPr wrap="square"/>
                    <a:lstStyle/>
                    <a:p>
                      <a:pPr algn="l"/>
                      <a:r>
                        <a:rPr sz="1800" b="1">
                          <a:solidFill>
                            <a:srgbClr val="1F2A33"/>
                          </a:solidFill>
                          <a:latin typeface="Arial"/>
                        </a:rPr>
                        <a:t>Intern HCI prototype</a:t>
                      </a:r>
                    </a:p>
                  </a:txBody>
                  <a:tcPr marL="54864" marR="54864" marT="18288" marB="18288" anchor="ctr">
                    <a:solidFill>
                      <a:srgbClr val="F2F5F8"/>
                    </a:solidFill>
                  </a:tcPr>
                </a:tc>
                <a:tc>
                  <a:txBody>
                    <a:bodyPr wrap="square"/>
                    <a:lstStyle/>
                    <a:p>
                      <a:pPr algn="ctr"/>
                      <a:r>
                        <a:rPr sz="1800" b="0">
                          <a:solidFill>
                            <a:srgbClr val="1F2A33"/>
                          </a:solidFill>
                          <a:latin typeface="Arial"/>
                        </a:rPr>
                        <a:t>Topology × length / nearest-cluster distance</a:t>
                      </a:r>
                    </a:p>
                  </a:txBody>
                  <a:tcPr marL="54864" marR="54864" marT="18288" marB="18288" anchor="ctr">
                    <a:solidFill>
                      <a:srgbClr val="F2F5F8"/>
                    </a:solidFill>
                  </a:tcPr>
                </a:tc>
                <a:tc>
                  <a:txBody>
                    <a:bodyPr wrap="square"/>
                    <a:lstStyle/>
                    <a:p>
                      <a:pPr algn="ctr"/>
                      <a:r>
                        <a:rPr sz="1800" b="0">
                          <a:solidFill>
                            <a:srgbClr val="1F2A33"/>
                          </a:solidFill>
                          <a:latin typeface="Arial"/>
                        </a:rPr>
                        <a:t>Unbounded, amount-driven, fails invariance</a:t>
                      </a:r>
                    </a:p>
                  </a:txBody>
                  <a:tcPr marL="54864" marR="54864" marT="18288" marB="18288" anchor="ctr">
                    <a:solidFill>
                      <a:srgbClr val="F2F5F8"/>
                    </a:solidFill>
                  </a:tcPr>
                </a:tc>
              </a:tr>
              <a:tr h="603504">
                <a:tc>
                  <a:txBody>
                    <a:bodyPr wrap="square"/>
                    <a:lstStyle/>
                    <a:p>
                      <a:pPr algn="l"/>
                      <a:r>
                        <a:rPr sz="1800" b="1">
                          <a:solidFill>
                            <a:srgbClr val="1F2A33"/>
                          </a:solidFill>
                          <a:latin typeface="Arial"/>
                        </a:rPr>
                        <a:t>HCI v1 (this work)</a:t>
                      </a:r>
                    </a:p>
                  </a:txBody>
                  <a:tcPr marL="54864" marR="54864" marT="18288" marB="18288" anchor="ctr">
                    <a:solidFill>
                      <a:srgbClr val="FFFFFF"/>
                    </a:solidFill>
                  </a:tcPr>
                </a:tc>
                <a:tc>
                  <a:txBody>
                    <a:bodyPr wrap="square"/>
                    <a:lstStyle/>
                    <a:p>
                      <a:pPr algn="ctr"/>
                      <a:r>
                        <a:rPr sz="1800" b="0">
                          <a:solidFill>
                            <a:srgbClr val="1F2A33"/>
                          </a:solidFill>
                          <a:latin typeface="Arial"/>
                        </a:rPr>
                        <a:t>Integrated single-linkage coverage, δ½, closure κ</a:t>
                      </a:r>
                    </a:p>
                  </a:txBody>
                  <a:tcPr marL="54864" marR="54864" marT="18288" marB="18288" anchor="ctr">
                    <a:solidFill>
                      <a:srgbClr val="FFFFFF"/>
                    </a:solidFill>
                  </a:tcPr>
                </a:tc>
                <a:tc>
                  <a:txBody>
                    <a:bodyPr wrap="square"/>
                    <a:lstStyle/>
                    <a:p>
                      <a:pPr algn="ctr"/>
                      <a:r>
                        <a:rPr sz="1800" b="0">
                          <a:solidFill>
                            <a:srgbClr val="1F2A33"/>
                          </a:solidFill>
                          <a:latin typeface="Arial"/>
                        </a:rPr>
                        <a:t>Validated on synthetic axioms; field data pending</a:t>
                      </a:r>
                    </a:p>
                  </a:txBody>
                  <a:tcPr marL="54864" marR="54864" marT="18288" marB="18288" anchor="ctr">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600" b="1">
                <a:solidFill>
                  <a:srgbClr val="FFFFFF"/>
                </a:solidFill>
                <a:latin typeface="Arial"/>
              </a:rPr>
              <a:t>The intern prototype and what its results really show</a:t>
            </a:r>
          </a:p>
        </p:txBody>
      </p:sp>
      <p:sp>
        <p:nvSpPr>
          <p:cNvPr id="3" name="Rectangle 2"/>
          <p:cNvSpPr/>
          <p:nvPr/>
        </p:nvSpPr>
        <p:spPr>
          <a:xfrm>
            <a:off x="0" y="6199632"/>
            <a:ext cx="12191695"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000" b="0">
                <a:solidFill>
                  <a:srgbClr val="FFFFFF"/>
                </a:solidFill>
                <a:latin typeface="Arial"/>
              </a:rPr>
              <a:t>Prototype HCI rose with hydrogen — but so did the hydride amount: the trend is confounded</a:t>
            </a:r>
          </a:p>
        </p:txBody>
      </p:sp>
      <p:sp>
        <p:nvSpPr>
          <p:cNvPr id="4" name="TextBox 3"/>
          <p:cNvSpPr txBox="1"/>
          <p:nvPr/>
        </p:nvSpPr>
        <p:spPr>
          <a:xfrm>
            <a:off x="320040" y="914400"/>
            <a:ext cx="3566160" cy="5120640"/>
          </a:xfrm>
          <a:prstGeom prst="rect">
            <a:avLst/>
          </a:prstGeom>
          <a:noFill/>
        </p:spPr>
        <p:txBody>
          <a:bodyPr wrap="square" lIns="45720" rIns="45720">
            <a:spAutoFit/>
          </a:bodyPr>
          <a:lstStyle/>
          <a:p>
            <a:pPr>
              <a:spcBef>
                <a:spcPts val="1000"/>
              </a:spcBef>
            </a:pPr>
            <a:r>
              <a:rPr sz="2000" b="1">
                <a:solidFill>
                  <a:srgbClr val="8B1E3F"/>
                </a:solidFill>
                <a:latin typeface="Arial"/>
              </a:rPr>
              <a:t>Prototype formula</a:t>
            </a:r>
          </a:p>
          <a:p>
            <a:pPr>
              <a:spcBef>
                <a:spcPts val="400"/>
              </a:spcBef>
            </a:pPr>
            <a:r>
              <a:rPr sz="1800">
                <a:solidFill>
                  <a:srgbClr val="1F2A33"/>
                </a:solidFill>
                <a:latin typeface="Arial"/>
              </a:rPr>
              <a:t>• w = (B+1)/N × L̄ / d_min</a:t>
            </a:r>
          </a:p>
          <a:p>
            <a:pPr>
              <a:spcBef>
                <a:spcPts val="400"/>
              </a:spcBef>
            </a:pPr>
            <a:r>
              <a:rPr sz="1800">
                <a:solidFill>
                  <a:srgbClr val="1F2A33"/>
                </a:solidFill>
                <a:latin typeface="Arial"/>
              </a:rPr>
              <a:t>• HCI = Σ A·w / Σ A</a:t>
            </a:r>
          </a:p>
          <a:p>
            <a:pPr>
              <a:spcBef>
                <a:spcPts val="400"/>
              </a:spcBef>
            </a:pPr>
            <a:r>
              <a:rPr sz="1800">
                <a:solidFill>
                  <a:srgbClr val="1F2A33"/>
                </a:solidFill>
                <a:latin typeface="Arial"/>
              </a:rPr>
              <a:t>• B junctions, N = ends + B</a:t>
            </a:r>
          </a:p>
          <a:p>
            <a:pPr>
              <a:spcBef>
                <a:spcPts val="400"/>
              </a:spcBef>
            </a:pPr>
            <a:r>
              <a:rPr sz="1800">
                <a:solidFill>
                  <a:srgbClr val="1F2A33"/>
                </a:solidFill>
                <a:latin typeface="Arial"/>
              </a:rPr>
              <a:t>• d_min: nearest cluster</a:t>
            </a:r>
          </a:p>
          <a:p>
            <a:pPr>
              <a:spcBef>
                <a:spcPts val="1000"/>
              </a:spcBef>
            </a:pPr>
            <a:r>
              <a:rPr sz="2000" b="1">
                <a:solidFill>
                  <a:srgbClr val="0E7C86"/>
                </a:solidFill>
                <a:latin typeface="Arial"/>
              </a:rPr>
              <a:t>Reported (Table 2)</a:t>
            </a:r>
          </a:p>
          <a:p>
            <a:pPr>
              <a:spcBef>
                <a:spcPts val="400"/>
              </a:spcBef>
            </a:pPr>
            <a:r>
              <a:rPr sz="1800">
                <a:solidFill>
                  <a:srgbClr val="1F2A33"/>
                </a:solidFill>
                <a:latin typeface="Arial"/>
              </a:rPr>
              <a:t>• 25 ppm: 2.59</a:t>
            </a:r>
          </a:p>
          <a:p>
            <a:pPr>
              <a:spcBef>
                <a:spcPts val="400"/>
              </a:spcBef>
            </a:pPr>
            <a:r>
              <a:rPr sz="1800">
                <a:solidFill>
                  <a:srgbClr val="1F2A33"/>
                </a:solidFill>
                <a:latin typeface="Arial"/>
              </a:rPr>
              <a:t>• 70 ppm: 3.38</a:t>
            </a:r>
          </a:p>
          <a:p>
            <a:pPr>
              <a:spcBef>
                <a:spcPts val="400"/>
              </a:spcBef>
            </a:pPr>
            <a:r>
              <a:rPr sz="1800">
                <a:solidFill>
                  <a:srgbClr val="1F2A33"/>
                </a:solidFill>
                <a:latin typeface="Arial"/>
              </a:rPr>
              <a:t>• 200 ppm: 8.02</a:t>
            </a:r>
          </a:p>
          <a:p>
            <a:pPr>
              <a:spcBef>
                <a:spcPts val="1000"/>
              </a:spcBef>
            </a:pPr>
            <a:r>
              <a:rPr sz="2000" b="1">
                <a:solidFill>
                  <a:srgbClr val="B86E00"/>
                </a:solidFill>
                <a:latin typeface="Arial"/>
              </a:rPr>
              <a:t>But</a:t>
            </a:r>
          </a:p>
          <a:p>
            <a:pPr>
              <a:spcBef>
                <a:spcPts val="400"/>
              </a:spcBef>
            </a:pPr>
            <a:r>
              <a:rPr sz="1800">
                <a:solidFill>
                  <a:srgbClr val="1F2A33"/>
                </a:solidFill>
                <a:latin typeface="Arial"/>
              </a:rPr>
              <a:t>• Area fraction 5 → 14 %</a:t>
            </a:r>
          </a:p>
          <a:p>
            <a:pPr>
              <a:spcBef>
                <a:spcPts val="400"/>
              </a:spcBef>
            </a:pPr>
            <a:r>
              <a:rPr sz="1800">
                <a:solidFill>
                  <a:srgbClr val="1F2A33"/>
                </a:solidFill>
                <a:latin typeface="Arial"/>
              </a:rPr>
              <a:t>• Unbounded, px units</a:t>
            </a:r>
          </a:p>
        </p:txBody>
      </p:sp>
      <p:pic>
        <p:nvPicPr>
          <p:cNvPr id="5" name="Picture 4" descr="prototype_confound.png"/>
          <p:cNvPicPr>
            <a:picLocks noChangeAspect="1"/>
          </p:cNvPicPr>
          <p:nvPr/>
        </p:nvPicPr>
        <p:blipFill>
          <a:blip r:embed="rId3"/>
          <a:stretch>
            <a:fillRect/>
          </a:stretch>
        </p:blipFill>
        <p:spPr>
          <a:xfrm>
            <a:off x="3931920" y="1956307"/>
            <a:ext cx="8031175" cy="301853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600" b="1">
                <a:solidFill>
                  <a:srgbClr val="FFFFFF"/>
                </a:solidFill>
                <a:latin typeface="Arial"/>
              </a:rPr>
              <a:t>The prototype on the constant-area-fraction benchmark</a:t>
            </a:r>
          </a:p>
        </p:txBody>
      </p:sp>
      <p:sp>
        <p:nvSpPr>
          <p:cNvPr id="3" name="Rectangle 2"/>
          <p:cNvSpPr/>
          <p:nvPr/>
        </p:nvSpPr>
        <p:spPr>
          <a:xfrm>
            <a:off x="0" y="6199632"/>
            <a:ext cx="12191695"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000" b="0">
                <a:solidFill>
                  <a:srgbClr val="FFFFFF"/>
                </a:solidFill>
                <a:latin typeface="Arial"/>
              </a:rPr>
              <a:t>Formulation-level failures, not just coding bugs — the prototype was not adopted</a:t>
            </a:r>
          </a:p>
        </p:txBody>
      </p:sp>
      <p:pic>
        <p:nvPicPr>
          <p:cNvPr id="4" name="Picture 3" descr="prototype_failures.png"/>
          <p:cNvPicPr>
            <a:picLocks noChangeAspect="1"/>
          </p:cNvPicPr>
          <p:nvPr/>
        </p:nvPicPr>
        <p:blipFill>
          <a:blip r:embed="rId3"/>
          <a:stretch>
            <a:fillRect/>
          </a:stretch>
        </p:blipFill>
        <p:spPr>
          <a:xfrm>
            <a:off x="228600" y="1884989"/>
            <a:ext cx="11734495" cy="316117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600" b="1">
                <a:solidFill>
                  <a:srgbClr val="FFFFFF"/>
                </a:solidFill>
                <a:latin typeface="Arial"/>
              </a:rPr>
              <a:t>Ten testable design axioms for any connectivity index</a:t>
            </a:r>
          </a:p>
        </p:txBody>
      </p:sp>
      <p:sp>
        <p:nvSpPr>
          <p:cNvPr id="3" name="Rectangle 2"/>
          <p:cNvSpPr/>
          <p:nvPr/>
        </p:nvSpPr>
        <p:spPr>
          <a:xfrm>
            <a:off x="0" y="6199632"/>
            <a:ext cx="12191695"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000" b="0">
                <a:solidFill>
                  <a:srgbClr val="FFFFFF"/>
                </a:solidFill>
                <a:latin typeface="Arial"/>
              </a:rPr>
              <a:t>Every axiom is checked automatically on the synthetic benchmark (tests/test_phase38_hci_core.py)</a:t>
            </a:r>
          </a:p>
        </p:txBody>
      </p:sp>
      <p:graphicFrame>
        <p:nvGraphicFramePr>
          <p:cNvPr id="4" name="Table 3"/>
          <p:cNvGraphicFramePr>
            <a:graphicFrameLocks noGrp="1"/>
          </p:cNvGraphicFramePr>
          <p:nvPr/>
        </p:nvGraphicFramePr>
        <p:xfrm>
          <a:off x="548640" y="1371600"/>
          <a:ext cx="11091672" cy="4389120"/>
        </p:xfrm>
        <a:graphic>
          <a:graphicData uri="http://schemas.openxmlformats.org/drawingml/2006/table">
            <a:tbl>
              <a:tblPr firstRow="1" bandRow="1">
                <a:tableStyleId>{5C22544A-7EE6-4342-B048-85BDC9FD1C3A}</a:tableStyleId>
              </a:tblPr>
              <a:tblGrid>
                <a:gridCol w="822960"/>
                <a:gridCol w="4727448"/>
                <a:gridCol w="822960"/>
                <a:gridCol w="4718304"/>
              </a:tblGrid>
              <a:tr h="731520">
                <a:tc>
                  <a:txBody>
                    <a:bodyPr wrap="square"/>
                    <a:lstStyle/>
                    <a:p>
                      <a:pPr algn="l"/>
                      <a:r>
                        <a:rPr sz="1800" b="1">
                          <a:solidFill>
                            <a:srgbClr val="FFFFFF"/>
                          </a:solidFill>
                          <a:latin typeface="Arial"/>
                        </a:rPr>
                        <a:t>ID</a:t>
                      </a:r>
                    </a:p>
                  </a:txBody>
                  <a:tcPr marL="54864" marR="54864" marT="18288" marB="18288" anchor="ctr">
                    <a:solidFill>
                      <a:srgbClr val="1D3557"/>
                    </a:solidFill>
                  </a:tcPr>
                </a:tc>
                <a:tc>
                  <a:txBody>
                    <a:bodyPr wrap="square"/>
                    <a:lstStyle/>
                    <a:p>
                      <a:pPr algn="ctr"/>
                      <a:r>
                        <a:rPr sz="1800" b="1">
                          <a:solidFill>
                            <a:srgbClr val="FFFFFF"/>
                          </a:solidFill>
                          <a:latin typeface="Arial"/>
                        </a:rPr>
                        <a:t>Requirement</a:t>
                      </a:r>
                    </a:p>
                  </a:txBody>
                  <a:tcPr marL="54864" marR="54864" marT="18288" marB="18288" anchor="ctr">
                    <a:solidFill>
                      <a:srgbClr val="1D3557"/>
                    </a:solidFill>
                  </a:tcPr>
                </a:tc>
                <a:tc>
                  <a:txBody>
                    <a:bodyPr wrap="square"/>
                    <a:lstStyle/>
                    <a:p>
                      <a:pPr algn="ctr"/>
                      <a:r>
                        <a:rPr sz="1800" b="1">
                          <a:solidFill>
                            <a:srgbClr val="FFFFFF"/>
                          </a:solidFill>
                          <a:latin typeface="Arial"/>
                        </a:rPr>
                        <a:t>ID</a:t>
                      </a:r>
                    </a:p>
                  </a:txBody>
                  <a:tcPr marL="54864" marR="54864" marT="18288" marB="18288" anchor="ctr">
                    <a:solidFill>
                      <a:srgbClr val="1D3557"/>
                    </a:solidFill>
                  </a:tcPr>
                </a:tc>
                <a:tc>
                  <a:txBody>
                    <a:bodyPr wrap="square"/>
                    <a:lstStyle/>
                    <a:p>
                      <a:pPr algn="ctr"/>
                      <a:r>
                        <a:rPr sz="1800" b="1">
                          <a:solidFill>
                            <a:srgbClr val="FFFFFF"/>
                          </a:solidFill>
                          <a:latin typeface="Arial"/>
                        </a:rPr>
                        <a:t>Requirement</a:t>
                      </a:r>
                    </a:p>
                  </a:txBody>
                  <a:tcPr marL="54864" marR="54864" marT="18288" marB="18288" anchor="ctr">
                    <a:solidFill>
                      <a:srgbClr val="1D3557"/>
                    </a:solidFill>
                  </a:tcPr>
                </a:tc>
              </a:tr>
              <a:tr h="731520">
                <a:tc>
                  <a:txBody>
                    <a:bodyPr wrap="square"/>
                    <a:lstStyle/>
                    <a:p>
                      <a:pPr algn="l"/>
                      <a:r>
                        <a:rPr sz="1800" b="0">
                          <a:solidFill>
                            <a:srgbClr val="1F2A33"/>
                          </a:solidFill>
                          <a:latin typeface="Arial"/>
                        </a:rPr>
                        <a:t>A1</a:t>
                      </a:r>
                    </a:p>
                  </a:txBody>
                  <a:tcPr marL="54864" marR="54864" marT="18288" marB="18288" anchor="ctr">
                    <a:solidFill>
                      <a:srgbClr val="F2F5F8"/>
                    </a:solidFill>
                  </a:tcPr>
                </a:tc>
                <a:tc>
                  <a:txBody>
                    <a:bodyPr wrap="square"/>
                    <a:lstStyle/>
                    <a:p>
                      <a:pPr algn="ctr"/>
                      <a:r>
                        <a:rPr sz="1800" b="0">
                          <a:solidFill>
                            <a:srgbClr val="1F2A33"/>
                          </a:solidFill>
                          <a:latin typeface="Arial"/>
                        </a:rPr>
                        <a:t>Ranks connectivity at constant Af</a:t>
                      </a:r>
                    </a:p>
                  </a:txBody>
                  <a:tcPr marL="54864" marR="54864" marT="18288" marB="18288" anchor="ctr">
                    <a:solidFill>
                      <a:srgbClr val="F2F5F8"/>
                    </a:solidFill>
                  </a:tcPr>
                </a:tc>
                <a:tc>
                  <a:txBody>
                    <a:bodyPr wrap="square"/>
                    <a:lstStyle/>
                    <a:p>
                      <a:pPr algn="ctr"/>
                      <a:r>
                        <a:rPr sz="1800" b="0">
                          <a:solidFill>
                            <a:srgbClr val="1F2A33"/>
                          </a:solidFill>
                          <a:latin typeface="Arial"/>
                        </a:rPr>
                        <a:t>A6</a:t>
                      </a:r>
                    </a:p>
                  </a:txBody>
                  <a:tcPr marL="54864" marR="54864" marT="18288" marB="18288" anchor="ctr">
                    <a:solidFill>
                      <a:srgbClr val="F2F5F8"/>
                    </a:solidFill>
                  </a:tcPr>
                </a:tc>
                <a:tc>
                  <a:txBody>
                    <a:bodyPr wrap="square"/>
                    <a:lstStyle/>
                    <a:p>
                      <a:pPr algn="ctr"/>
                      <a:r>
                        <a:rPr sz="1800" b="0">
                          <a:solidFill>
                            <a:srgbClr val="1F2A33"/>
                          </a:solidFill>
                          <a:latin typeface="Arial"/>
                        </a:rPr>
                        <a:t>Exact symmetries (flip, transpose)</a:t>
                      </a:r>
                    </a:p>
                  </a:txBody>
                  <a:tcPr marL="54864" marR="54864" marT="18288" marB="18288" anchor="ctr">
                    <a:solidFill>
                      <a:srgbClr val="F2F5F8"/>
                    </a:solidFill>
                  </a:tcPr>
                </a:tc>
              </a:tr>
              <a:tr h="731520">
                <a:tc>
                  <a:txBody>
                    <a:bodyPr wrap="square"/>
                    <a:lstStyle/>
                    <a:p>
                      <a:pPr algn="l"/>
                      <a:r>
                        <a:rPr sz="1800" b="0">
                          <a:solidFill>
                            <a:srgbClr val="1F2A33"/>
                          </a:solidFill>
                          <a:latin typeface="Arial"/>
                        </a:rPr>
                        <a:t>A2</a:t>
                      </a:r>
                    </a:p>
                  </a:txBody>
                  <a:tcPr marL="54864" marR="54864" marT="18288" marB="18288" anchor="ctr">
                    <a:solidFill>
                      <a:srgbClr val="FFFFFF"/>
                    </a:solidFill>
                  </a:tcPr>
                </a:tc>
                <a:tc>
                  <a:txBody>
                    <a:bodyPr wrap="square"/>
                    <a:lstStyle/>
                    <a:p>
                      <a:pPr algn="ctr"/>
                      <a:r>
                        <a:rPr sz="1800" b="0">
                          <a:solidFill>
                            <a:srgbClr val="1F2A33"/>
                          </a:solidFill>
                          <a:latin typeface="Arial"/>
                        </a:rPr>
                        <a:t>Bounded in (0, 1], interpretable</a:t>
                      </a:r>
                    </a:p>
                  </a:txBody>
                  <a:tcPr marL="54864" marR="54864" marT="18288" marB="18288" anchor="ctr">
                    <a:solidFill>
                      <a:srgbClr val="FFFFFF"/>
                    </a:solidFill>
                  </a:tcPr>
                </a:tc>
                <a:tc>
                  <a:txBody>
                    <a:bodyPr wrap="square"/>
                    <a:lstStyle/>
                    <a:p>
                      <a:pPr algn="ctr"/>
                      <a:r>
                        <a:rPr sz="1800" b="0">
                          <a:solidFill>
                            <a:srgbClr val="1F2A33"/>
                          </a:solidFill>
                          <a:latin typeface="Arial"/>
                        </a:rPr>
                        <a:t>A7</a:t>
                      </a:r>
                    </a:p>
                  </a:txBody>
                  <a:tcPr marL="54864" marR="54864" marT="18288" marB="18288" anchor="ctr">
                    <a:solidFill>
                      <a:srgbClr val="FFFFFF"/>
                    </a:solidFill>
                  </a:tcPr>
                </a:tc>
                <a:tc>
                  <a:txBody>
                    <a:bodyPr wrap="square"/>
                    <a:lstStyle/>
                    <a:p>
                      <a:pPr algn="ctr"/>
                      <a:r>
                        <a:rPr sz="1800" b="0">
                          <a:solidFill>
                            <a:srgbClr val="1F2A33"/>
                          </a:solidFill>
                          <a:latin typeface="Arial"/>
                        </a:rPr>
                        <a:t>Resolution-consistent (µm thresholds)</a:t>
                      </a:r>
                    </a:p>
                  </a:txBody>
                  <a:tcPr marL="54864" marR="54864" marT="18288" marB="18288" anchor="ctr">
                    <a:solidFill>
                      <a:srgbClr val="FFFFFF"/>
                    </a:solidFill>
                  </a:tcPr>
                </a:tc>
              </a:tr>
              <a:tr h="731520">
                <a:tc>
                  <a:txBody>
                    <a:bodyPr wrap="square"/>
                    <a:lstStyle/>
                    <a:p>
                      <a:pPr algn="l"/>
                      <a:r>
                        <a:rPr sz="1800" b="0">
                          <a:solidFill>
                            <a:srgbClr val="1F2A33"/>
                          </a:solidFill>
                          <a:latin typeface="Arial"/>
                        </a:rPr>
                        <a:t>A3</a:t>
                      </a:r>
                    </a:p>
                  </a:txBody>
                  <a:tcPr marL="54864" marR="54864" marT="18288" marB="18288" anchor="ctr">
                    <a:solidFill>
                      <a:srgbClr val="F2F5F8"/>
                    </a:solidFill>
                  </a:tcPr>
                </a:tc>
                <a:tc>
                  <a:txBody>
                    <a:bodyPr wrap="square"/>
                    <a:lstStyle/>
                    <a:p>
                      <a:pPr algn="ctr"/>
                      <a:r>
                        <a:rPr sz="1800" b="0">
                          <a:solidFill>
                            <a:srgbClr val="1F2A33"/>
                          </a:solidFill>
                          <a:latin typeface="Arial"/>
                        </a:rPr>
                        <a:t>Linking never lowers it</a:t>
                      </a:r>
                    </a:p>
                  </a:txBody>
                  <a:tcPr marL="54864" marR="54864" marT="18288" marB="18288" anchor="ctr">
                    <a:solidFill>
                      <a:srgbClr val="F2F5F8"/>
                    </a:solidFill>
                  </a:tcPr>
                </a:tc>
                <a:tc>
                  <a:txBody>
                    <a:bodyPr wrap="square"/>
                    <a:lstStyle/>
                    <a:p>
                      <a:pPr algn="ctr"/>
                      <a:r>
                        <a:rPr sz="1800" b="0">
                          <a:solidFill>
                            <a:srgbClr val="1F2A33"/>
                          </a:solidFill>
                          <a:latin typeface="Arial"/>
                        </a:rPr>
                        <a:t>A8</a:t>
                      </a:r>
                    </a:p>
                  </a:txBody>
                  <a:tcPr marL="54864" marR="54864" marT="18288" marB="18288" anchor="ctr">
                    <a:solidFill>
                      <a:srgbClr val="F2F5F8"/>
                    </a:solidFill>
                  </a:tcPr>
                </a:tc>
                <a:tc>
                  <a:txBody>
                    <a:bodyPr wrap="square"/>
                    <a:lstStyle/>
                    <a:p>
                      <a:pPr algn="ctr"/>
                      <a:r>
                        <a:rPr sz="1800" b="0">
                          <a:solidFill>
                            <a:srgbClr val="1F2A33"/>
                          </a:solidFill>
                          <a:latin typeface="Arial"/>
                        </a:rPr>
                        <a:t>Robust to segmentation noise (≤ 5 %)</a:t>
                      </a:r>
                    </a:p>
                  </a:txBody>
                  <a:tcPr marL="54864" marR="54864" marT="18288" marB="18288" anchor="ctr">
                    <a:solidFill>
                      <a:srgbClr val="F2F5F8"/>
                    </a:solidFill>
                  </a:tcPr>
                </a:tc>
              </a:tr>
              <a:tr h="731520">
                <a:tc>
                  <a:txBody>
                    <a:bodyPr wrap="square"/>
                    <a:lstStyle/>
                    <a:p>
                      <a:pPr algn="l"/>
                      <a:r>
                        <a:rPr sz="1800" b="0">
                          <a:solidFill>
                            <a:srgbClr val="1F2A33"/>
                          </a:solidFill>
                          <a:latin typeface="Arial"/>
                        </a:rPr>
                        <a:t>A4</a:t>
                      </a:r>
                    </a:p>
                  </a:txBody>
                  <a:tcPr marL="54864" marR="54864" marT="18288" marB="18288" anchor="ctr">
                    <a:solidFill>
                      <a:srgbClr val="FFFFFF"/>
                    </a:solidFill>
                  </a:tcPr>
                </a:tc>
                <a:tc>
                  <a:txBody>
                    <a:bodyPr wrap="square"/>
                    <a:lstStyle/>
                    <a:p>
                      <a:pPr algn="ctr"/>
                      <a:r>
                        <a:rPr sz="1800" b="0">
                          <a:solidFill>
                            <a:srgbClr val="1F2A33"/>
                          </a:solidFill>
                          <a:latin typeface="Arial"/>
                        </a:rPr>
                        <a:t>Fragmentation never raises it</a:t>
                      </a:r>
                    </a:p>
                  </a:txBody>
                  <a:tcPr marL="54864" marR="54864" marT="18288" marB="18288" anchor="ctr">
                    <a:solidFill>
                      <a:srgbClr val="FFFFFF"/>
                    </a:solidFill>
                  </a:tcPr>
                </a:tc>
                <a:tc>
                  <a:txBody>
                    <a:bodyPr wrap="square"/>
                    <a:lstStyle/>
                    <a:p>
                      <a:pPr algn="ctr"/>
                      <a:r>
                        <a:rPr sz="1800" b="0">
                          <a:solidFill>
                            <a:srgbClr val="1F2A33"/>
                          </a:solidFill>
                          <a:latin typeface="Arial"/>
                        </a:rPr>
                        <a:t>A9</a:t>
                      </a:r>
                    </a:p>
                  </a:txBody>
                  <a:tcPr marL="54864" marR="54864" marT="18288" marB="18288" anchor="ctr">
                    <a:solidFill>
                      <a:srgbClr val="FFFFFF"/>
                    </a:solidFill>
                  </a:tcPr>
                </a:tc>
                <a:tc>
                  <a:txBody>
                    <a:bodyPr wrap="square"/>
                    <a:lstStyle/>
                    <a:p>
                      <a:pPr algn="ctr"/>
                      <a:r>
                        <a:rPr sz="1800" b="0">
                          <a:solidFill>
                            <a:srgbClr val="1F2A33"/>
                          </a:solidFill>
                          <a:latin typeface="Arial"/>
                        </a:rPr>
                        <a:t>Directional where declared</a:t>
                      </a:r>
                    </a:p>
                  </a:txBody>
                  <a:tcPr marL="54864" marR="54864" marT="18288" marB="18288" anchor="ctr">
                    <a:solidFill>
                      <a:srgbClr val="FFFFFF"/>
                    </a:solidFill>
                  </a:tcPr>
                </a:tc>
              </a:tr>
              <a:tr h="731520">
                <a:tc>
                  <a:txBody>
                    <a:bodyPr wrap="square"/>
                    <a:lstStyle/>
                    <a:p>
                      <a:pPr algn="l"/>
                      <a:r>
                        <a:rPr sz="1800" b="0">
                          <a:solidFill>
                            <a:srgbClr val="1F2A33"/>
                          </a:solidFill>
                          <a:latin typeface="Arial"/>
                        </a:rPr>
                        <a:t>A5</a:t>
                      </a:r>
                    </a:p>
                  </a:txBody>
                  <a:tcPr marL="54864" marR="54864" marT="18288" marB="18288" anchor="ctr">
                    <a:solidFill>
                      <a:srgbClr val="F2F5F8"/>
                    </a:solidFill>
                  </a:tcPr>
                </a:tc>
                <a:tc>
                  <a:txBody>
                    <a:bodyPr wrap="square"/>
                    <a:lstStyle/>
                    <a:p>
                      <a:pPr algn="ctr"/>
                      <a:r>
                        <a:rPr sz="1800" b="0">
                          <a:solidFill>
                            <a:srgbClr val="1F2A33"/>
                          </a:solidFill>
                          <a:latin typeface="Arial"/>
                        </a:rPr>
                        <a:t>Defined for empty and single clusters</a:t>
                      </a:r>
                    </a:p>
                  </a:txBody>
                  <a:tcPr marL="54864" marR="54864" marT="18288" marB="18288" anchor="ctr">
                    <a:solidFill>
                      <a:srgbClr val="F2F5F8"/>
                    </a:solidFill>
                  </a:tcPr>
                </a:tc>
                <a:tc>
                  <a:txBody>
                    <a:bodyPr wrap="square"/>
                    <a:lstStyle/>
                    <a:p>
                      <a:pPr algn="ctr"/>
                      <a:r>
                        <a:rPr sz="1800" b="0">
                          <a:solidFill>
                            <a:srgbClr val="1F2A33"/>
                          </a:solidFill>
                          <a:latin typeface="Arial"/>
                        </a:rPr>
                        <a:t>A10</a:t>
                      </a:r>
                    </a:p>
                  </a:txBody>
                  <a:tcPr marL="54864" marR="54864" marT="18288" marB="18288" anchor="ctr">
                    <a:solidFill>
                      <a:srgbClr val="F2F5F8"/>
                    </a:solidFill>
                  </a:tcPr>
                </a:tc>
                <a:tc>
                  <a:txBody>
                    <a:bodyPr wrap="square"/>
                    <a:lstStyle/>
                    <a:p>
                      <a:pPr algn="ctr"/>
                      <a:r>
                        <a:rPr sz="1800" b="0">
                          <a:solidFill>
                            <a:srgbClr val="1F2A33"/>
                          </a:solidFill>
                          <a:latin typeface="Arial"/>
                        </a:rPr>
                        <a:t>Deterministic, full provenance</a:t>
                      </a:r>
                    </a:p>
                  </a:txBody>
                  <a:tcPr marL="54864" marR="54864" marT="18288" marB="18288" anchor="ctr">
                    <a:solidFill>
                      <a:srgbClr val="F2F5F8"/>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600" b="1">
                <a:solidFill>
                  <a:srgbClr val="FFFFFF"/>
                </a:solidFill>
                <a:latin typeface="Arial"/>
              </a:rPr>
              <a:t>Synthetic benchmark: construction and rationale</a:t>
            </a:r>
          </a:p>
        </p:txBody>
      </p:sp>
      <p:sp>
        <p:nvSpPr>
          <p:cNvPr id="3" name="Rectangle 2"/>
          <p:cNvSpPr/>
          <p:nvPr/>
        </p:nvSpPr>
        <p:spPr>
          <a:xfrm>
            <a:off x="0" y="6199632"/>
            <a:ext cx="12191695"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000" b="0">
                <a:solidFill>
                  <a:srgbClr val="FFFFFF"/>
                </a:solidFill>
                <a:latin typeface="Arial"/>
              </a:rPr>
              <a:t>Controlled masks with exact known answers make code and concept validation objective</a:t>
            </a:r>
          </a:p>
        </p:txBody>
      </p:sp>
      <p:sp>
        <p:nvSpPr>
          <p:cNvPr id="4" name="TextBox 3"/>
          <p:cNvSpPr txBox="1"/>
          <p:nvPr/>
        </p:nvSpPr>
        <p:spPr>
          <a:xfrm>
            <a:off x="320040" y="914400"/>
            <a:ext cx="4023360" cy="5120640"/>
          </a:xfrm>
          <a:prstGeom prst="rect">
            <a:avLst/>
          </a:prstGeom>
          <a:noFill/>
        </p:spPr>
        <p:txBody>
          <a:bodyPr wrap="square" lIns="45720" rIns="45720">
            <a:spAutoFit/>
          </a:bodyPr>
          <a:lstStyle/>
          <a:p>
            <a:pPr>
              <a:spcBef>
                <a:spcPts val="1000"/>
              </a:spcBef>
            </a:pPr>
            <a:r>
              <a:rPr sz="2000" b="1">
                <a:solidFill>
                  <a:srgbClr val="8B1E3F"/>
                </a:solidFill>
                <a:latin typeface="Arial"/>
              </a:rPr>
              <a:t>Why synthetic?</a:t>
            </a:r>
          </a:p>
          <a:p>
            <a:pPr>
              <a:spcBef>
                <a:spcPts val="400"/>
              </a:spcBef>
            </a:pPr>
            <a:r>
              <a:rPr sz="1800">
                <a:solidFill>
                  <a:srgbClr val="1F2A33"/>
                </a:solidFill>
                <a:latin typeface="Arial"/>
              </a:rPr>
              <a:t>• Real specimens change amount, orientation and spacing together</a:t>
            </a:r>
          </a:p>
          <a:p>
            <a:pPr>
              <a:spcBef>
                <a:spcPts val="400"/>
              </a:spcBef>
            </a:pPr>
            <a:r>
              <a:rPr sz="1800">
                <a:solidFill>
                  <a:srgbClr val="1F2A33"/>
                </a:solidFill>
                <a:latin typeface="Arial"/>
              </a:rPr>
              <a:t>• One factor varied at a time</a:t>
            </a:r>
          </a:p>
          <a:p>
            <a:pPr>
              <a:spcBef>
                <a:spcPts val="1000"/>
              </a:spcBef>
            </a:pPr>
            <a:r>
              <a:rPr sz="2000" b="1">
                <a:solidFill>
                  <a:srgbClr val="0E7C86"/>
                </a:solidFill>
                <a:latin typeface="Arial"/>
              </a:rPr>
              <a:t>How</a:t>
            </a:r>
          </a:p>
          <a:p>
            <a:pPr>
              <a:spcBef>
                <a:spcPts val="400"/>
              </a:spcBef>
            </a:pPr>
            <a:r>
              <a:rPr sz="1800">
                <a:solidFill>
                  <a:srgbClr val="1F2A33"/>
                </a:solidFill>
                <a:latin typeface="Arial"/>
              </a:rPr>
              <a:t>• Centreline graph → 4 px capsules</a:t>
            </a:r>
          </a:p>
          <a:p>
            <a:pPr>
              <a:spcBef>
                <a:spcPts val="400"/>
              </a:spcBef>
            </a:pPr>
            <a:r>
              <a:rPr sz="1800">
                <a:solidFill>
                  <a:srgbClr val="1F2A33"/>
                </a:solidFill>
                <a:latin typeface="Arial"/>
              </a:rPr>
              <a:t>• Af fixed at 5.00 ± 0.05 %</a:t>
            </a:r>
          </a:p>
          <a:p>
            <a:pPr>
              <a:spcBef>
                <a:spcPts val="400"/>
              </a:spcBef>
            </a:pPr>
            <a:r>
              <a:rPr sz="1800">
                <a:solidFill>
                  <a:srgbClr val="1F2A33"/>
                </a:solidFill>
                <a:latin typeface="Arial"/>
              </a:rPr>
              <a:t>• ≥ 6 µm clearance between objects</a:t>
            </a:r>
          </a:p>
          <a:p>
            <a:pPr>
              <a:spcBef>
                <a:spcPts val="1000"/>
              </a:spcBef>
            </a:pPr>
            <a:r>
              <a:rPr sz="2000" b="1">
                <a:solidFill>
                  <a:srgbClr val="B86E00"/>
                </a:solidFill>
                <a:latin typeface="Arial"/>
              </a:rPr>
              <a:t>Ground truth</a:t>
            </a:r>
          </a:p>
          <a:p>
            <a:pPr>
              <a:spcBef>
                <a:spcPts val="400"/>
              </a:spcBef>
            </a:pPr>
            <a:r>
              <a:rPr sz="1800">
                <a:solidFill>
                  <a:srgbClr val="1F2A33"/>
                </a:solidFill>
                <a:latin typeface="Arial"/>
              </a:rPr>
              <a:t>• Ends, junction degrees, loops</a:t>
            </a:r>
          </a:p>
          <a:p>
            <a:pPr>
              <a:spcBef>
                <a:spcPts val="400"/>
              </a:spcBef>
            </a:pPr>
            <a:r>
              <a:rPr sz="1800">
                <a:solidFill>
                  <a:srgbClr val="1F2A33"/>
                </a:solidFill>
                <a:latin typeface="Arial"/>
              </a:rPr>
              <a:t>• 203 masks, bit-for-bit reproducible</a:t>
            </a:r>
          </a:p>
        </p:txBody>
      </p:sp>
      <p:pic>
        <p:nvPicPr>
          <p:cNvPr id="5" name="Picture 4" descr="benchmark_construction.png"/>
          <p:cNvPicPr>
            <a:picLocks noChangeAspect="1"/>
          </p:cNvPicPr>
          <p:nvPr/>
        </p:nvPicPr>
        <p:blipFill>
          <a:blip r:embed="rId3"/>
          <a:stretch>
            <a:fillRect/>
          </a:stretch>
        </p:blipFill>
        <p:spPr>
          <a:xfrm>
            <a:off x="4389120" y="1373327"/>
            <a:ext cx="7573975" cy="4184497"/>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600" b="1">
                <a:solidFill>
                  <a:srgbClr val="FFFFFF"/>
                </a:solidFill>
                <a:latin typeface="Arial"/>
              </a:rPr>
              <a:t>Benchmark families 1: gap and fragmentation (Af = 5 %)</a:t>
            </a:r>
          </a:p>
        </p:txBody>
      </p:sp>
      <p:sp>
        <p:nvSpPr>
          <p:cNvPr id="3" name="Rectangle 2"/>
          <p:cNvSpPr/>
          <p:nvPr/>
        </p:nvSpPr>
        <p:spPr>
          <a:xfrm>
            <a:off x="0" y="6199632"/>
            <a:ext cx="12191695"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000" b="0">
                <a:solidFill>
                  <a:srgbClr val="FFFFFF"/>
                </a:solidFill>
                <a:latin typeface="Arial"/>
              </a:rPr>
              <a:t>Expected: closing gaps raises connectivity; splitting the same hydride lowers it</a:t>
            </a:r>
          </a:p>
        </p:txBody>
      </p:sp>
      <p:sp>
        <p:nvSpPr>
          <p:cNvPr id="4" name="TextBox 3"/>
          <p:cNvSpPr txBox="1"/>
          <p:nvPr/>
        </p:nvSpPr>
        <p:spPr>
          <a:xfrm>
            <a:off x="274320" y="868680"/>
            <a:ext cx="3017520" cy="2551176"/>
          </a:xfrm>
          <a:prstGeom prst="rect">
            <a:avLst/>
          </a:prstGeom>
          <a:noFill/>
        </p:spPr>
        <p:txBody>
          <a:bodyPr wrap="square">
            <a:spAutoFit/>
          </a:bodyPr>
          <a:lstStyle/>
          <a:p>
            <a:r>
              <a:rPr sz="2000" b="1">
                <a:solidFill>
                  <a:srgbClr val="8B1E3F"/>
                </a:solidFill>
                <a:latin typeface="Arial"/>
              </a:rPr>
              <a:t>Gap sweep</a:t>
            </a:r>
          </a:p>
          <a:p>
            <a:r>
              <a:rPr sz="1800">
                <a:solidFill>
                  <a:srgbClr val="1F2A33"/>
                </a:solidFill>
                <a:latin typeface="Arial"/>
              </a:rPr>
              <a:t>Only the gap between collinear hydrides changes</a:t>
            </a:r>
          </a:p>
        </p:txBody>
      </p:sp>
      <p:pic>
        <p:nvPicPr>
          <p:cNvPr id="5" name="Picture 4" descr="family_gap_sweep.png"/>
          <p:cNvPicPr>
            <a:picLocks noChangeAspect="1"/>
          </p:cNvPicPr>
          <p:nvPr/>
        </p:nvPicPr>
        <p:blipFill>
          <a:blip r:embed="rId3"/>
          <a:stretch>
            <a:fillRect/>
          </a:stretch>
        </p:blipFill>
        <p:spPr>
          <a:xfrm>
            <a:off x="3291840" y="1341258"/>
            <a:ext cx="8671255" cy="1569443"/>
          </a:xfrm>
          <a:prstGeom prst="rect">
            <a:avLst/>
          </a:prstGeom>
        </p:spPr>
      </p:pic>
      <p:sp>
        <p:nvSpPr>
          <p:cNvPr id="6" name="TextBox 5"/>
          <p:cNvSpPr txBox="1"/>
          <p:nvPr/>
        </p:nvSpPr>
        <p:spPr>
          <a:xfrm>
            <a:off x="274320" y="3511296"/>
            <a:ext cx="3017520" cy="2551176"/>
          </a:xfrm>
          <a:prstGeom prst="rect">
            <a:avLst/>
          </a:prstGeom>
          <a:noFill/>
        </p:spPr>
        <p:txBody>
          <a:bodyPr wrap="square">
            <a:spAutoFit/>
          </a:bodyPr>
          <a:lstStyle/>
          <a:p>
            <a:r>
              <a:rPr sz="2000" b="1">
                <a:solidFill>
                  <a:srgbClr val="8B1E3F"/>
                </a:solidFill>
                <a:latin typeface="Arial"/>
              </a:rPr>
              <a:t>Fragmentation</a:t>
            </a:r>
          </a:p>
          <a:p>
            <a:r>
              <a:rPr sz="1800">
                <a:solidFill>
                  <a:srgbClr val="1F2A33"/>
                </a:solidFill>
                <a:latin typeface="Arial"/>
              </a:rPr>
              <a:t>Same hydride split into more, shorter pieces</a:t>
            </a:r>
          </a:p>
        </p:txBody>
      </p:sp>
      <p:pic>
        <p:nvPicPr>
          <p:cNvPr id="7" name="Picture 6" descr="family_fragmentation.png"/>
          <p:cNvPicPr>
            <a:picLocks noChangeAspect="1"/>
          </p:cNvPicPr>
          <p:nvPr/>
        </p:nvPicPr>
        <p:blipFill>
          <a:blip r:embed="rId4"/>
          <a:stretch>
            <a:fillRect/>
          </a:stretch>
        </p:blipFill>
        <p:spPr>
          <a:xfrm>
            <a:off x="3291840" y="3827221"/>
            <a:ext cx="8671255" cy="1882749"/>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600" b="1">
                <a:solidFill>
                  <a:srgbClr val="FFFFFF"/>
                </a:solidFill>
                <a:latin typeface="Arial"/>
              </a:rPr>
              <a:t>Benchmark families 2: arrangement and orientation</a:t>
            </a:r>
          </a:p>
        </p:txBody>
      </p:sp>
      <p:sp>
        <p:nvSpPr>
          <p:cNvPr id="3" name="Rectangle 2"/>
          <p:cNvSpPr/>
          <p:nvPr/>
        </p:nvSpPr>
        <p:spPr>
          <a:xfrm>
            <a:off x="0" y="6199632"/>
            <a:ext cx="12191695"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000" b="0">
                <a:solidFill>
                  <a:srgbClr val="FFFFFF"/>
                </a:solidFill>
                <a:latin typeface="Arial"/>
              </a:rPr>
              <a:t>Expected: aligned &lt; stringers &lt; stepped ≈ continuous; radial index follows angle, isotropic stays flat</a:t>
            </a:r>
          </a:p>
        </p:txBody>
      </p:sp>
      <p:sp>
        <p:nvSpPr>
          <p:cNvPr id="4" name="TextBox 3"/>
          <p:cNvSpPr txBox="1"/>
          <p:nvPr/>
        </p:nvSpPr>
        <p:spPr>
          <a:xfrm>
            <a:off x="274320" y="868680"/>
            <a:ext cx="3017520" cy="2551176"/>
          </a:xfrm>
          <a:prstGeom prst="rect">
            <a:avLst/>
          </a:prstGeom>
          <a:noFill/>
        </p:spPr>
        <p:txBody>
          <a:bodyPr wrap="square">
            <a:spAutoFit/>
          </a:bodyPr>
          <a:lstStyle/>
          <a:p>
            <a:r>
              <a:rPr sz="2000" b="1">
                <a:solidFill>
                  <a:srgbClr val="8B1E3F"/>
                </a:solidFill>
                <a:latin typeface="Arial"/>
              </a:rPr>
              <a:t>Arrangement</a:t>
            </a:r>
          </a:p>
          <a:p>
            <a:r>
              <a:rPr sz="1800">
                <a:solidFill>
                  <a:srgbClr val="1F2A33"/>
                </a:solidFill>
                <a:latin typeface="Arial"/>
              </a:rPr>
              <a:t>Same segments, different spatial organisation</a:t>
            </a:r>
          </a:p>
        </p:txBody>
      </p:sp>
      <p:pic>
        <p:nvPicPr>
          <p:cNvPr id="5" name="Picture 4" descr="family_arrangement.png"/>
          <p:cNvPicPr>
            <a:picLocks noChangeAspect="1"/>
          </p:cNvPicPr>
          <p:nvPr/>
        </p:nvPicPr>
        <p:blipFill>
          <a:blip r:embed="rId3"/>
          <a:stretch>
            <a:fillRect/>
          </a:stretch>
        </p:blipFill>
        <p:spPr>
          <a:xfrm>
            <a:off x="3291840" y="1341258"/>
            <a:ext cx="8671255" cy="1569443"/>
          </a:xfrm>
          <a:prstGeom prst="rect">
            <a:avLst/>
          </a:prstGeom>
        </p:spPr>
      </p:pic>
      <p:sp>
        <p:nvSpPr>
          <p:cNvPr id="6" name="TextBox 5"/>
          <p:cNvSpPr txBox="1"/>
          <p:nvPr/>
        </p:nvSpPr>
        <p:spPr>
          <a:xfrm>
            <a:off x="274320" y="3511296"/>
            <a:ext cx="3017520" cy="2551176"/>
          </a:xfrm>
          <a:prstGeom prst="rect">
            <a:avLst/>
          </a:prstGeom>
          <a:noFill/>
        </p:spPr>
        <p:txBody>
          <a:bodyPr wrap="square">
            <a:spAutoFit/>
          </a:bodyPr>
          <a:lstStyle/>
          <a:p>
            <a:r>
              <a:rPr sz="2000" b="1">
                <a:solidFill>
                  <a:srgbClr val="8B1E3F"/>
                </a:solidFill>
                <a:latin typeface="Arial"/>
              </a:rPr>
              <a:t>Orientation</a:t>
            </a:r>
          </a:p>
          <a:p>
            <a:r>
              <a:rPr sz="1800">
                <a:solidFill>
                  <a:srgbClr val="1F2A33"/>
                </a:solidFill>
                <a:latin typeface="Arial"/>
              </a:rPr>
              <a:t>Identical lines, rotated 0–90°</a:t>
            </a:r>
          </a:p>
        </p:txBody>
      </p:sp>
      <p:pic>
        <p:nvPicPr>
          <p:cNvPr id="7" name="Picture 6" descr="family_orientation.png"/>
          <p:cNvPicPr>
            <a:picLocks noChangeAspect="1"/>
          </p:cNvPicPr>
          <p:nvPr/>
        </p:nvPicPr>
        <p:blipFill>
          <a:blip r:embed="rId4"/>
          <a:stretch>
            <a:fillRect/>
          </a:stretch>
        </p:blipFill>
        <p:spPr>
          <a:xfrm>
            <a:off x="3291840" y="4096197"/>
            <a:ext cx="8671255" cy="1344797"/>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600" b="1">
                <a:solidFill>
                  <a:srgbClr val="FFFFFF"/>
                </a:solidFill>
                <a:latin typeface="Arial"/>
              </a:rPr>
              <a:t>Benchmark families 3: topology and the percolation (Boolean) model</a:t>
            </a:r>
          </a:p>
        </p:txBody>
      </p:sp>
      <p:sp>
        <p:nvSpPr>
          <p:cNvPr id="3" name="Rectangle 2"/>
          <p:cNvSpPr/>
          <p:nvPr/>
        </p:nvSpPr>
        <p:spPr>
          <a:xfrm>
            <a:off x="0" y="6199632"/>
            <a:ext cx="12191695"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000" b="0">
                <a:solidFill>
                  <a:srgbClr val="FFFFFF"/>
                </a:solidFill>
                <a:latin typeface="Arial"/>
              </a:rPr>
              <a:t>Expected: topology separates ends from loops; HCI rises with Af across the percolation transition</a:t>
            </a:r>
          </a:p>
        </p:txBody>
      </p:sp>
      <p:sp>
        <p:nvSpPr>
          <p:cNvPr id="4" name="TextBox 3"/>
          <p:cNvSpPr txBox="1"/>
          <p:nvPr/>
        </p:nvSpPr>
        <p:spPr>
          <a:xfrm>
            <a:off x="274320" y="868680"/>
            <a:ext cx="3017520" cy="2551176"/>
          </a:xfrm>
          <a:prstGeom prst="rect">
            <a:avLst/>
          </a:prstGeom>
          <a:noFill/>
        </p:spPr>
        <p:txBody>
          <a:bodyPr wrap="square">
            <a:spAutoFit/>
          </a:bodyPr>
          <a:lstStyle/>
          <a:p>
            <a:r>
              <a:rPr sz="2000" b="1">
                <a:solidFill>
                  <a:srgbClr val="8B1E3F"/>
                </a:solidFill>
                <a:latin typeface="Arial"/>
              </a:rPr>
              <a:t>Topology</a:t>
            </a:r>
          </a:p>
          <a:p>
            <a:r>
              <a:rPr sz="1800">
                <a:solidFill>
                  <a:srgbClr val="1F2A33"/>
                </a:solidFill>
                <a:latin typeface="Arial"/>
              </a:rPr>
              <a:t>Ends, junctions, loops and one mesh</a:t>
            </a:r>
          </a:p>
        </p:txBody>
      </p:sp>
      <p:pic>
        <p:nvPicPr>
          <p:cNvPr id="5" name="Picture 4" descr="family_topology.png"/>
          <p:cNvPicPr>
            <a:picLocks noChangeAspect="1"/>
          </p:cNvPicPr>
          <p:nvPr/>
        </p:nvPicPr>
        <p:blipFill>
          <a:blip r:embed="rId3"/>
          <a:stretch>
            <a:fillRect/>
          </a:stretch>
        </p:blipFill>
        <p:spPr>
          <a:xfrm>
            <a:off x="3291840" y="1341258"/>
            <a:ext cx="8671255" cy="1569443"/>
          </a:xfrm>
          <a:prstGeom prst="rect">
            <a:avLst/>
          </a:prstGeom>
        </p:spPr>
      </p:pic>
      <p:sp>
        <p:nvSpPr>
          <p:cNvPr id="6" name="TextBox 5"/>
          <p:cNvSpPr txBox="1"/>
          <p:nvPr/>
        </p:nvSpPr>
        <p:spPr>
          <a:xfrm>
            <a:off x="274320" y="3511296"/>
            <a:ext cx="3017520" cy="2551176"/>
          </a:xfrm>
          <a:prstGeom prst="rect">
            <a:avLst/>
          </a:prstGeom>
          <a:noFill/>
        </p:spPr>
        <p:txBody>
          <a:bodyPr wrap="square">
            <a:spAutoFit/>
          </a:bodyPr>
          <a:lstStyle/>
          <a:p>
            <a:r>
              <a:rPr sz="2000" b="1">
                <a:solidFill>
                  <a:srgbClr val="8B1E3F"/>
                </a:solidFill>
                <a:latin typeface="Arial"/>
              </a:rPr>
              <a:t>Boolean model</a:t>
            </a:r>
          </a:p>
          <a:p>
            <a:r>
              <a:rPr sz="1800">
                <a:solidFill>
                  <a:srgbClr val="1F2A33"/>
                </a:solidFill>
                <a:latin typeface="Arial"/>
              </a:rPr>
              <a:t>Af varied 2–20 %: percolation check</a:t>
            </a:r>
          </a:p>
        </p:txBody>
      </p:sp>
      <p:pic>
        <p:nvPicPr>
          <p:cNvPr id="7" name="Picture 6" descr="family_boolean_model.png"/>
          <p:cNvPicPr>
            <a:picLocks noChangeAspect="1"/>
          </p:cNvPicPr>
          <p:nvPr/>
        </p:nvPicPr>
        <p:blipFill>
          <a:blip r:embed="rId4"/>
          <a:stretch>
            <a:fillRect/>
          </a:stretch>
        </p:blipFill>
        <p:spPr>
          <a:xfrm>
            <a:off x="3291840" y="3827221"/>
            <a:ext cx="8671255" cy="1882749"/>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600" b="1">
                <a:solidFill>
                  <a:srgbClr val="FFFFFF"/>
                </a:solidFill>
                <a:latin typeface="Arial"/>
              </a:rPr>
              <a:t>Benchmark families 4: invariance, noise and edge cases</a:t>
            </a:r>
          </a:p>
        </p:txBody>
      </p:sp>
      <p:sp>
        <p:nvSpPr>
          <p:cNvPr id="3" name="Rectangle 2"/>
          <p:cNvSpPr/>
          <p:nvPr/>
        </p:nvSpPr>
        <p:spPr>
          <a:xfrm>
            <a:off x="0" y="6199632"/>
            <a:ext cx="12191695"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000" b="0">
                <a:solidFill>
                  <a:srgbClr val="FFFFFF"/>
                </a:solidFill>
                <a:latin typeface="Arial"/>
              </a:rPr>
              <a:t>Expected: exact symmetry, ≤ 5 % change under resolution or noise, explicit status for edge cases</a:t>
            </a:r>
          </a:p>
        </p:txBody>
      </p:sp>
      <p:sp>
        <p:nvSpPr>
          <p:cNvPr id="4" name="TextBox 3"/>
          <p:cNvSpPr txBox="1"/>
          <p:nvPr/>
        </p:nvSpPr>
        <p:spPr>
          <a:xfrm>
            <a:off x="274320" y="868680"/>
            <a:ext cx="3017520" cy="2551176"/>
          </a:xfrm>
          <a:prstGeom prst="rect">
            <a:avLst/>
          </a:prstGeom>
          <a:noFill/>
        </p:spPr>
        <p:txBody>
          <a:bodyPr wrap="square">
            <a:spAutoFit/>
          </a:bodyPr>
          <a:lstStyle/>
          <a:p>
            <a:r>
              <a:rPr sz="2000" b="1">
                <a:solidFill>
                  <a:srgbClr val="8B1E3F"/>
                </a:solidFill>
                <a:latin typeface="Arial"/>
              </a:rPr>
              <a:t>Invariance</a:t>
            </a:r>
          </a:p>
          <a:p>
            <a:r>
              <a:rPr sz="1800">
                <a:solidFill>
                  <a:srgbClr val="1F2A33"/>
                </a:solidFill>
                <a:latin typeface="Arial"/>
              </a:rPr>
              <a:t>Symmetry, resolution and segmentation noise</a:t>
            </a:r>
          </a:p>
        </p:txBody>
      </p:sp>
      <p:pic>
        <p:nvPicPr>
          <p:cNvPr id="5" name="Picture 4" descr="family_invariance.png"/>
          <p:cNvPicPr>
            <a:picLocks noChangeAspect="1"/>
          </p:cNvPicPr>
          <p:nvPr/>
        </p:nvPicPr>
        <p:blipFill>
          <a:blip r:embed="rId3"/>
          <a:stretch>
            <a:fillRect/>
          </a:stretch>
        </p:blipFill>
        <p:spPr>
          <a:xfrm>
            <a:off x="3291840" y="1603703"/>
            <a:ext cx="8671255" cy="1044553"/>
          </a:xfrm>
          <a:prstGeom prst="rect">
            <a:avLst/>
          </a:prstGeom>
        </p:spPr>
      </p:pic>
      <p:sp>
        <p:nvSpPr>
          <p:cNvPr id="6" name="TextBox 5"/>
          <p:cNvSpPr txBox="1"/>
          <p:nvPr/>
        </p:nvSpPr>
        <p:spPr>
          <a:xfrm>
            <a:off x="274320" y="3511296"/>
            <a:ext cx="3017520" cy="2551176"/>
          </a:xfrm>
          <a:prstGeom prst="rect">
            <a:avLst/>
          </a:prstGeom>
          <a:noFill/>
        </p:spPr>
        <p:txBody>
          <a:bodyPr wrap="square">
            <a:spAutoFit/>
          </a:bodyPr>
          <a:lstStyle/>
          <a:p>
            <a:r>
              <a:rPr sz="2000" b="1">
                <a:solidFill>
                  <a:srgbClr val="8B1E3F"/>
                </a:solidFill>
                <a:latin typeface="Arial"/>
              </a:rPr>
              <a:t>Edge cases</a:t>
            </a:r>
          </a:p>
          <a:p>
            <a:r>
              <a:rPr sz="1800">
                <a:solidFill>
                  <a:srgbClr val="1F2A33"/>
                </a:solidFill>
                <a:latin typeface="Arial"/>
              </a:rPr>
              <a:t>Empty, speck, single clusters</a:t>
            </a:r>
          </a:p>
        </p:txBody>
      </p:sp>
      <p:pic>
        <p:nvPicPr>
          <p:cNvPr id="7" name="Picture 6" descr="family_degenerate.png"/>
          <p:cNvPicPr>
            <a:picLocks noChangeAspect="1"/>
          </p:cNvPicPr>
          <p:nvPr/>
        </p:nvPicPr>
        <p:blipFill>
          <a:blip r:embed="rId4"/>
          <a:stretch>
            <a:fillRect/>
          </a:stretch>
        </p:blipFill>
        <p:spPr>
          <a:xfrm>
            <a:off x="3291840" y="4096197"/>
            <a:ext cx="8671255" cy="1344797"/>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600" b="1">
                <a:solidFill>
                  <a:srgbClr val="FFFFFF"/>
                </a:solidFill>
                <a:latin typeface="Arial"/>
              </a:rPr>
              <a:t>How the HCI works</a:t>
            </a:r>
          </a:p>
        </p:txBody>
      </p:sp>
      <p:sp>
        <p:nvSpPr>
          <p:cNvPr id="3" name="Rectangle 2"/>
          <p:cNvSpPr/>
          <p:nvPr/>
        </p:nvSpPr>
        <p:spPr>
          <a:xfrm>
            <a:off x="0" y="6199632"/>
            <a:ext cx="12191695"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000" b="0">
                <a:solidFill>
                  <a:srgbClr val="FFFFFF"/>
                </a:solidFill>
                <a:latin typeface="Arial"/>
              </a:rPr>
              <a:t>Link hydrides across matrix gaps ≤ δ, measure covered length, average over δ up to δ_max</a:t>
            </a:r>
          </a:p>
        </p:txBody>
      </p:sp>
      <p:pic>
        <p:nvPicPr>
          <p:cNvPr id="4" name="Picture 3" descr="hci_concept.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0615" y="822960"/>
            <a:ext cx="10570464" cy="528523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600" b="1">
                <a:solidFill>
                  <a:srgbClr val="FFFFFF"/>
                </a:solidFill>
                <a:latin typeface="Arial"/>
              </a:rPr>
              <a:t>Algorithm flow sheet (same SVG as the code documentation)</a:t>
            </a:r>
          </a:p>
        </p:txBody>
      </p:sp>
      <p:sp>
        <p:nvSpPr>
          <p:cNvPr id="3" name="Rectangle 2"/>
          <p:cNvSpPr/>
          <p:nvPr/>
        </p:nvSpPr>
        <p:spPr>
          <a:xfrm>
            <a:off x="0" y="6199632"/>
            <a:ext cx="12191695"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000" b="0">
                <a:solidFill>
                  <a:srgbClr val="FFFFFF"/>
                </a:solidFill>
                <a:latin typeface="Arial"/>
              </a:rPr>
              <a:t>One deterministic core for CLI, web and Python; real hydride and synthetic bridges never mixed</a:t>
            </a:r>
          </a:p>
        </p:txBody>
      </p:sp>
      <p:pic>
        <p:nvPicPr>
          <p:cNvPr id="4" name="Picture 3" descr="hci_v1_algorithm_flow.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91685" y="822960"/>
            <a:ext cx="8408323" cy="528523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600" b="1">
                <a:solidFill>
                  <a:srgbClr val="FFFFFF"/>
                </a:solidFill>
                <a:latin typeface="Arial"/>
              </a:rPr>
              <a:t>Step 1–2: clean-up and components</a:t>
            </a:r>
          </a:p>
        </p:txBody>
      </p:sp>
      <p:sp>
        <p:nvSpPr>
          <p:cNvPr id="3" name="Rectangle 2"/>
          <p:cNvSpPr/>
          <p:nvPr/>
        </p:nvSpPr>
        <p:spPr>
          <a:xfrm>
            <a:off x="0" y="6199632"/>
            <a:ext cx="12191695"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000" b="0">
                <a:solidFill>
                  <a:srgbClr val="FFFFFF"/>
                </a:solidFill>
                <a:latin typeface="Arial"/>
              </a:rPr>
              <a:t>The mask is cleaned and split into 8-connected hydride components (36 platelets)</a:t>
            </a:r>
          </a:p>
        </p:txBody>
      </p:sp>
      <p:pic>
        <p:nvPicPr>
          <p:cNvPr id="4" name="Picture 3" descr="syn_stage1.png"/>
          <p:cNvPicPr>
            <a:picLocks noChangeAspect="1"/>
          </p:cNvPicPr>
          <p:nvPr/>
        </p:nvPicPr>
        <p:blipFill>
          <a:blip r:embed="rId3"/>
          <a:stretch>
            <a:fillRect/>
          </a:stretch>
        </p:blipFill>
        <p:spPr>
          <a:xfrm>
            <a:off x="725604" y="822960"/>
            <a:ext cx="10740485" cy="528523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600" b="1">
                <a:solidFill>
                  <a:srgbClr val="FFFFFF"/>
                </a:solidFill>
                <a:latin typeface="Arial"/>
              </a:rPr>
              <a:t>Step 3: gap graph from the distance transform</a:t>
            </a:r>
          </a:p>
        </p:txBody>
      </p:sp>
      <p:sp>
        <p:nvSpPr>
          <p:cNvPr id="3" name="Rectangle 2"/>
          <p:cNvSpPr/>
          <p:nvPr/>
        </p:nvSpPr>
        <p:spPr>
          <a:xfrm>
            <a:off x="0" y="6199632"/>
            <a:ext cx="12191695"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000" b="0">
                <a:solidFill>
                  <a:srgbClr val="FFFFFF"/>
                </a:solidFill>
                <a:latin typeface="Arial"/>
              </a:rPr>
              <a:t>Only Voronoi-neighbour gaps are needed — they contain the minimum spanning tree (exact, O(pixels))</a:t>
            </a:r>
          </a:p>
        </p:txBody>
      </p:sp>
      <p:pic>
        <p:nvPicPr>
          <p:cNvPr id="4" name="Picture 3" descr="syn_stage2.png"/>
          <p:cNvPicPr>
            <a:picLocks noChangeAspect="1"/>
          </p:cNvPicPr>
          <p:nvPr/>
        </p:nvPicPr>
        <p:blipFill>
          <a:blip r:embed="rId3"/>
          <a:stretch>
            <a:fillRect/>
          </a:stretch>
        </p:blipFill>
        <p:spPr>
          <a:xfrm>
            <a:off x="3062564" y="822960"/>
            <a:ext cx="6066566" cy="5285232"/>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600" b="1">
                <a:solidFill>
                  <a:srgbClr val="FFFFFF"/>
                </a:solidFill>
                <a:latin typeface="Arial"/>
              </a:rPr>
              <a:t>Step 4: clusters as the association distance δ grows</a:t>
            </a:r>
          </a:p>
        </p:txBody>
      </p:sp>
      <p:sp>
        <p:nvSpPr>
          <p:cNvPr id="3" name="Rectangle 2"/>
          <p:cNvSpPr/>
          <p:nvPr/>
        </p:nvSpPr>
        <p:spPr>
          <a:xfrm>
            <a:off x="0" y="6199632"/>
            <a:ext cx="12191695"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000" b="0">
                <a:solidFill>
                  <a:srgbClr val="FFFFFF"/>
                </a:solidFill>
                <a:latin typeface="Arial"/>
              </a:rPr>
              <a:t>Stringer gaps (3 µm) bridge first: C_R jumps from 0.18 to 0.54 — red lines are synthetic bridges</a:t>
            </a:r>
          </a:p>
        </p:txBody>
      </p:sp>
      <p:pic>
        <p:nvPicPr>
          <p:cNvPr id="4" name="Picture 3" descr="syn_stage3.png"/>
          <p:cNvPicPr>
            <a:picLocks noChangeAspect="1"/>
          </p:cNvPicPr>
          <p:nvPr/>
        </p:nvPicPr>
        <p:blipFill>
          <a:blip r:embed="rId3"/>
          <a:stretch>
            <a:fillRect/>
          </a:stretch>
        </p:blipFill>
        <p:spPr>
          <a:xfrm>
            <a:off x="228600" y="1834938"/>
            <a:ext cx="11734495" cy="3261275"/>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600" b="1">
                <a:solidFill>
                  <a:srgbClr val="FFFFFF"/>
                </a:solidFill>
                <a:latin typeface="Arial"/>
              </a:rPr>
              <a:t>Step 5: coverage, connectivity function and the HCI</a:t>
            </a:r>
          </a:p>
        </p:txBody>
      </p:sp>
      <p:sp>
        <p:nvSpPr>
          <p:cNvPr id="3" name="Rectangle 2"/>
          <p:cNvSpPr/>
          <p:nvPr/>
        </p:nvSpPr>
        <p:spPr>
          <a:xfrm>
            <a:off x="0" y="6199632"/>
            <a:ext cx="12191695"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000" b="0">
                <a:solidFill>
                  <a:srgbClr val="FFFFFF"/>
                </a:solidFill>
                <a:latin typeface="Arial"/>
              </a:rPr>
              <a:t>HCI = area under C(δ) ÷ δ_max = 0.44; δ½ = 3.2 µm recovers the designed gap</a:t>
            </a:r>
          </a:p>
        </p:txBody>
      </p:sp>
      <p:pic>
        <p:nvPicPr>
          <p:cNvPr id="4" name="Picture 3" descr="syn_stage4.png"/>
          <p:cNvPicPr>
            <a:picLocks noChangeAspect="1"/>
          </p:cNvPicPr>
          <p:nvPr/>
        </p:nvPicPr>
        <p:blipFill>
          <a:blip r:embed="rId3"/>
          <a:stretch>
            <a:fillRect/>
          </a:stretch>
        </p:blipFill>
        <p:spPr>
          <a:xfrm>
            <a:off x="228600" y="1057326"/>
            <a:ext cx="11734495" cy="4816499"/>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600" b="1">
                <a:solidFill>
                  <a:srgbClr val="FFFFFF"/>
                </a:solidFill>
                <a:latin typeface="Arial"/>
              </a:rPr>
              <a:t>Companions: weakest path and skeleton topology</a:t>
            </a:r>
          </a:p>
        </p:txBody>
      </p:sp>
      <p:sp>
        <p:nvSpPr>
          <p:cNvPr id="3" name="Rectangle 2"/>
          <p:cNvSpPr/>
          <p:nvPr/>
        </p:nvSpPr>
        <p:spPr>
          <a:xfrm>
            <a:off x="0" y="6199632"/>
            <a:ext cx="12191695"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000" b="0">
                <a:solidFill>
                  <a:srgbClr val="FFFFFF"/>
                </a:solidFill>
                <a:latin typeface="Arial"/>
              </a:rPr>
              <a:t>Π (RHCP-type path) and κ (network closure) are reported beside the HCI, never multiplied in</a:t>
            </a:r>
          </a:p>
        </p:txBody>
      </p:sp>
      <p:pic>
        <p:nvPicPr>
          <p:cNvPr id="4" name="Picture 3" descr="syn_stage5.png"/>
          <p:cNvPicPr>
            <a:picLocks noChangeAspect="1"/>
          </p:cNvPicPr>
          <p:nvPr/>
        </p:nvPicPr>
        <p:blipFill>
          <a:blip r:embed="rId3"/>
          <a:stretch>
            <a:fillRect/>
          </a:stretch>
        </p:blipFill>
        <p:spPr>
          <a:xfrm>
            <a:off x="725604" y="822960"/>
            <a:ext cx="10740485" cy="5285232"/>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600" b="1">
                <a:solidFill>
                  <a:srgbClr val="FFFFFF"/>
                </a:solidFill>
                <a:latin typeface="Arial"/>
              </a:rPr>
              <a:t>Validation on the benchmark: HCI v1 (fixed δ_max = 10 µm)</a:t>
            </a:r>
          </a:p>
        </p:txBody>
      </p:sp>
      <p:sp>
        <p:nvSpPr>
          <p:cNvPr id="3" name="Rectangle 2"/>
          <p:cNvSpPr/>
          <p:nvPr/>
        </p:nvSpPr>
        <p:spPr>
          <a:xfrm>
            <a:off x="0" y="6199632"/>
            <a:ext cx="12191695"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000" b="0">
                <a:solidFill>
                  <a:srgbClr val="FFFFFF"/>
                </a:solidFill>
                <a:latin typeface="Arial"/>
              </a:rPr>
              <a:t>v1 meets every ordering axiom in every replicate at constant area fraction</a:t>
            </a:r>
          </a:p>
        </p:txBody>
      </p:sp>
      <p:pic>
        <p:nvPicPr>
          <p:cNvPr id="4" name="Picture 3" descr="benchmark_evidence_fixed10.png"/>
          <p:cNvPicPr>
            <a:picLocks noChangeAspect="1"/>
          </p:cNvPicPr>
          <p:nvPr/>
        </p:nvPicPr>
        <p:blipFill>
          <a:blip r:embed="rId3"/>
          <a:stretch>
            <a:fillRect/>
          </a:stretch>
        </p:blipFill>
        <p:spPr>
          <a:xfrm>
            <a:off x="1369731" y="822960"/>
            <a:ext cx="9452231" cy="5285232"/>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600" b="1">
                <a:solidFill>
                  <a:srgbClr val="FFFFFF"/>
                </a:solidFill>
                <a:latin typeface="Arial"/>
              </a:rPr>
              <a:t>Scorecard: prototype versus HCI v1</a:t>
            </a:r>
          </a:p>
        </p:txBody>
      </p:sp>
      <p:sp>
        <p:nvSpPr>
          <p:cNvPr id="3" name="Rectangle 2"/>
          <p:cNvSpPr/>
          <p:nvPr/>
        </p:nvSpPr>
        <p:spPr>
          <a:xfrm>
            <a:off x="0" y="6199632"/>
            <a:ext cx="12191695"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000" b="0">
                <a:solidFill>
                  <a:srgbClr val="FFFFFF"/>
                </a:solidFill>
                <a:latin typeface="Arial"/>
              </a:rPr>
              <a:t>v1 fixes ordering, symmetry, resolution and single-cluster failures; noise sensitivity is similar</a:t>
            </a:r>
          </a:p>
        </p:txBody>
      </p:sp>
      <p:graphicFrame>
        <p:nvGraphicFramePr>
          <p:cNvPr id="4" name="Table 3"/>
          <p:cNvGraphicFramePr>
            <a:graphicFrameLocks noGrp="1"/>
          </p:cNvGraphicFramePr>
          <p:nvPr/>
        </p:nvGraphicFramePr>
        <p:xfrm>
          <a:off x="1097280" y="914400"/>
          <a:ext cx="9994392" cy="4754880"/>
        </p:xfrm>
        <a:graphic>
          <a:graphicData uri="http://schemas.openxmlformats.org/drawingml/2006/table">
            <a:tbl>
              <a:tblPr firstRow="1" bandRow="1">
                <a:tableStyleId>{5C22544A-7EE6-4342-B048-85BDC9FD1C3A}</a:tableStyleId>
              </a:tblPr>
              <a:tblGrid>
                <a:gridCol w="4297680"/>
                <a:gridCol w="3383280"/>
                <a:gridCol w="2313432"/>
              </a:tblGrid>
              <a:tr h="475488">
                <a:tc>
                  <a:txBody>
                    <a:bodyPr wrap="square"/>
                    <a:lstStyle/>
                    <a:p>
                      <a:pPr algn="l"/>
                      <a:r>
                        <a:rPr sz="1800" b="1">
                          <a:solidFill>
                            <a:srgbClr val="FFFFFF"/>
                          </a:solidFill>
                          <a:latin typeface="Arial"/>
                        </a:rPr>
                        <a:t>Test</a:t>
                      </a:r>
                    </a:p>
                  </a:txBody>
                  <a:tcPr marL="54864" marR="54864" marT="18288" marB="18288" anchor="ctr">
                    <a:solidFill>
                      <a:srgbClr val="1D3557"/>
                    </a:solidFill>
                  </a:tcPr>
                </a:tc>
                <a:tc>
                  <a:txBody>
                    <a:bodyPr wrap="square"/>
                    <a:lstStyle/>
                    <a:p>
                      <a:pPr algn="ctr"/>
                      <a:r>
                        <a:rPr sz="1800" b="1">
                          <a:solidFill>
                            <a:srgbClr val="FFFFFF"/>
                          </a:solidFill>
                          <a:latin typeface="Arial"/>
                        </a:rPr>
                        <a:t>Prototype</a:t>
                      </a:r>
                    </a:p>
                  </a:txBody>
                  <a:tcPr marL="54864" marR="54864" marT="18288" marB="18288" anchor="ctr">
                    <a:solidFill>
                      <a:srgbClr val="1D3557"/>
                    </a:solidFill>
                  </a:tcPr>
                </a:tc>
                <a:tc>
                  <a:txBody>
                    <a:bodyPr wrap="square"/>
                    <a:lstStyle/>
                    <a:p>
                      <a:pPr algn="ctr"/>
                      <a:r>
                        <a:rPr sz="1800" b="1">
                          <a:solidFill>
                            <a:srgbClr val="FFFFFF"/>
                          </a:solidFill>
                          <a:latin typeface="Arial"/>
                        </a:rPr>
                        <a:t>HCI v1 (fixed 10 µm)</a:t>
                      </a:r>
                    </a:p>
                  </a:txBody>
                  <a:tcPr marL="54864" marR="54864" marT="18288" marB="18288" anchor="ctr">
                    <a:solidFill>
                      <a:srgbClr val="1D3557"/>
                    </a:solidFill>
                  </a:tcPr>
                </a:tc>
              </a:tr>
              <a:tr h="475488">
                <a:tc>
                  <a:txBody>
                    <a:bodyPr wrap="square"/>
                    <a:lstStyle/>
                    <a:p>
                      <a:pPr algn="l"/>
                      <a:r>
                        <a:rPr sz="1800" b="1">
                          <a:solidFill>
                            <a:srgbClr val="1F2A33"/>
                          </a:solidFill>
                          <a:latin typeface="Arial"/>
                        </a:rPr>
                        <a:t>Gap sweep ordering</a:t>
                      </a:r>
                    </a:p>
                  </a:txBody>
                  <a:tcPr marL="54864" marR="54864" marT="18288" marB="18288" anchor="ctr">
                    <a:solidFill>
                      <a:srgbClr val="F2F5F8"/>
                    </a:solidFill>
                  </a:tcPr>
                </a:tc>
                <a:tc>
                  <a:txBody>
                    <a:bodyPr wrap="square"/>
                    <a:lstStyle/>
                    <a:p>
                      <a:pPr algn="ctr"/>
                      <a:r>
                        <a:rPr sz="1800" b="0">
                          <a:solidFill>
                            <a:srgbClr val="1F2A33"/>
                          </a:solidFill>
                          <a:latin typeface="Arial"/>
                        </a:rPr>
                        <a:t>1/5</a:t>
                      </a:r>
                    </a:p>
                  </a:txBody>
                  <a:tcPr marL="54864" marR="54864" marT="18288" marB="18288" anchor="ctr">
                    <a:solidFill>
                      <a:srgbClr val="F2F5F8"/>
                    </a:solidFill>
                  </a:tcPr>
                </a:tc>
                <a:tc>
                  <a:txBody>
                    <a:bodyPr wrap="square"/>
                    <a:lstStyle/>
                    <a:p>
                      <a:pPr algn="ctr"/>
                      <a:r>
                        <a:rPr sz="1800" b="0">
                          <a:solidFill>
                            <a:srgbClr val="1F2A33"/>
                          </a:solidFill>
                          <a:latin typeface="Arial"/>
                        </a:rPr>
                        <a:t>5/5</a:t>
                      </a:r>
                    </a:p>
                  </a:txBody>
                  <a:tcPr marL="54864" marR="54864" marT="18288" marB="18288" anchor="ctr">
                    <a:solidFill>
                      <a:srgbClr val="F2F5F8"/>
                    </a:solidFill>
                  </a:tcPr>
                </a:tc>
              </a:tr>
              <a:tr h="475488">
                <a:tc>
                  <a:txBody>
                    <a:bodyPr wrap="square"/>
                    <a:lstStyle/>
                    <a:p>
                      <a:pPr algn="l"/>
                      <a:r>
                        <a:rPr sz="1800" b="1">
                          <a:solidFill>
                            <a:srgbClr val="1F2A33"/>
                          </a:solidFill>
                          <a:latin typeface="Arial"/>
                        </a:rPr>
                        <a:t>Fragmentation ordering</a:t>
                      </a:r>
                    </a:p>
                  </a:txBody>
                  <a:tcPr marL="54864" marR="54864" marT="18288" marB="18288" anchor="ctr">
                    <a:solidFill>
                      <a:srgbClr val="FFFFFF"/>
                    </a:solidFill>
                  </a:tcPr>
                </a:tc>
                <a:tc>
                  <a:txBody>
                    <a:bodyPr wrap="square"/>
                    <a:lstStyle/>
                    <a:p>
                      <a:pPr algn="ctr"/>
                      <a:r>
                        <a:rPr sz="1800" b="0">
                          <a:solidFill>
                            <a:srgbClr val="1F2A33"/>
                          </a:solidFill>
                          <a:latin typeface="Arial"/>
                        </a:rPr>
                        <a:t>5/5</a:t>
                      </a:r>
                    </a:p>
                  </a:txBody>
                  <a:tcPr marL="54864" marR="54864" marT="18288" marB="18288" anchor="ctr">
                    <a:solidFill>
                      <a:srgbClr val="FFFFFF"/>
                    </a:solidFill>
                  </a:tcPr>
                </a:tc>
                <a:tc>
                  <a:txBody>
                    <a:bodyPr wrap="square"/>
                    <a:lstStyle/>
                    <a:p>
                      <a:pPr algn="ctr"/>
                      <a:r>
                        <a:rPr sz="1800" b="0">
                          <a:solidFill>
                            <a:srgbClr val="1F2A33"/>
                          </a:solidFill>
                          <a:latin typeface="Arial"/>
                        </a:rPr>
                        <a:t>5/5</a:t>
                      </a:r>
                    </a:p>
                  </a:txBody>
                  <a:tcPr marL="54864" marR="54864" marT="18288" marB="18288" anchor="ctr">
                    <a:solidFill>
                      <a:srgbClr val="FFFFFF"/>
                    </a:solidFill>
                  </a:tcPr>
                </a:tc>
              </a:tr>
              <a:tr h="475488">
                <a:tc>
                  <a:txBody>
                    <a:bodyPr wrap="square"/>
                    <a:lstStyle/>
                    <a:p>
                      <a:pPr algn="l"/>
                      <a:r>
                        <a:rPr sz="1800" b="1">
                          <a:solidFill>
                            <a:srgbClr val="1F2A33"/>
                          </a:solidFill>
                          <a:latin typeface="Arial"/>
                        </a:rPr>
                        <a:t>Arrangement ordering</a:t>
                      </a:r>
                    </a:p>
                  </a:txBody>
                  <a:tcPr marL="54864" marR="54864" marT="18288" marB="18288" anchor="ctr">
                    <a:solidFill>
                      <a:srgbClr val="F2F5F8"/>
                    </a:solidFill>
                  </a:tcPr>
                </a:tc>
                <a:tc>
                  <a:txBody>
                    <a:bodyPr wrap="square"/>
                    <a:lstStyle/>
                    <a:p>
                      <a:pPr algn="ctr"/>
                      <a:r>
                        <a:rPr sz="1800" b="0">
                          <a:solidFill>
                            <a:srgbClr val="1F2A33"/>
                          </a:solidFill>
                          <a:latin typeface="Arial"/>
                        </a:rPr>
                        <a:t>0/5</a:t>
                      </a:r>
                    </a:p>
                  </a:txBody>
                  <a:tcPr marL="54864" marR="54864" marT="18288" marB="18288" anchor="ctr">
                    <a:solidFill>
                      <a:srgbClr val="F2F5F8"/>
                    </a:solidFill>
                  </a:tcPr>
                </a:tc>
                <a:tc>
                  <a:txBody>
                    <a:bodyPr wrap="square"/>
                    <a:lstStyle/>
                    <a:p>
                      <a:pPr algn="ctr"/>
                      <a:r>
                        <a:rPr sz="1800" b="0">
                          <a:solidFill>
                            <a:srgbClr val="1F2A33"/>
                          </a:solidFill>
                          <a:latin typeface="Arial"/>
                        </a:rPr>
                        <a:t>5/5</a:t>
                      </a:r>
                    </a:p>
                  </a:txBody>
                  <a:tcPr marL="54864" marR="54864" marT="18288" marB="18288" anchor="ctr">
                    <a:solidFill>
                      <a:srgbClr val="F2F5F8"/>
                    </a:solidFill>
                  </a:tcPr>
                </a:tc>
              </a:tr>
              <a:tr h="475488">
                <a:tc>
                  <a:txBody>
                    <a:bodyPr wrap="square"/>
                    <a:lstStyle/>
                    <a:p>
                      <a:pPr algn="l"/>
                      <a:r>
                        <a:rPr sz="1800" b="1">
                          <a:solidFill>
                            <a:srgbClr val="1F2A33"/>
                          </a:solidFill>
                          <a:latin typeface="Arial"/>
                        </a:rPr>
                        <a:t>Orientation ordering</a:t>
                      </a:r>
                    </a:p>
                  </a:txBody>
                  <a:tcPr marL="54864" marR="54864" marT="18288" marB="18288" anchor="ctr">
                    <a:solidFill>
                      <a:srgbClr val="FFFFFF"/>
                    </a:solidFill>
                  </a:tcPr>
                </a:tc>
                <a:tc>
                  <a:txBody>
                    <a:bodyPr wrap="square"/>
                    <a:lstStyle/>
                    <a:p>
                      <a:pPr algn="ctr"/>
                      <a:r>
                        <a:rPr sz="1800" b="0">
                          <a:solidFill>
                            <a:srgbClr val="1F2A33"/>
                          </a:solidFill>
                          <a:latin typeface="Arial"/>
                        </a:rPr>
                        <a:t>0/3 (should be flat)</a:t>
                      </a:r>
                    </a:p>
                  </a:txBody>
                  <a:tcPr marL="54864" marR="54864" marT="18288" marB="18288" anchor="ctr">
                    <a:solidFill>
                      <a:srgbClr val="FFFFFF"/>
                    </a:solidFill>
                  </a:tcPr>
                </a:tc>
                <a:tc>
                  <a:txBody>
                    <a:bodyPr wrap="square"/>
                    <a:lstStyle/>
                    <a:p>
                      <a:pPr algn="ctr"/>
                      <a:r>
                        <a:rPr sz="1800" b="0">
                          <a:solidFill>
                            <a:srgbClr val="1F2A33"/>
                          </a:solidFill>
                          <a:latin typeface="Arial"/>
                        </a:rPr>
                        <a:t>3/3</a:t>
                      </a:r>
                    </a:p>
                  </a:txBody>
                  <a:tcPr marL="54864" marR="54864" marT="18288" marB="18288" anchor="ctr">
                    <a:solidFill>
                      <a:srgbClr val="FFFFFF"/>
                    </a:solidFill>
                  </a:tcPr>
                </a:tc>
              </a:tr>
              <a:tr h="475488">
                <a:tc>
                  <a:txBody>
                    <a:bodyPr wrap="square"/>
                    <a:lstStyle/>
                    <a:p>
                      <a:pPr algn="l"/>
                      <a:r>
                        <a:rPr sz="1800" b="1">
                          <a:solidFill>
                            <a:srgbClr val="1F2A33"/>
                          </a:solidFill>
                          <a:latin typeface="Arial"/>
                        </a:rPr>
                        <a:t>Transpose / flips</a:t>
                      </a:r>
                    </a:p>
                  </a:txBody>
                  <a:tcPr marL="54864" marR="54864" marT="18288" marB="18288" anchor="ctr">
                    <a:solidFill>
                      <a:srgbClr val="F2F5F8"/>
                    </a:solidFill>
                  </a:tcPr>
                </a:tc>
                <a:tc>
                  <a:txBody>
                    <a:bodyPr wrap="square"/>
                    <a:lstStyle/>
                    <a:p>
                      <a:pPr algn="ctr"/>
                      <a:r>
                        <a:rPr sz="1800" b="0">
                          <a:solidFill>
                            <a:srgbClr val="1F2A33"/>
                          </a:solidFill>
                          <a:latin typeface="Arial"/>
                        </a:rPr>
                        <a:t>7.7 %</a:t>
                      </a:r>
                    </a:p>
                  </a:txBody>
                  <a:tcPr marL="54864" marR="54864" marT="18288" marB="18288" anchor="ctr">
                    <a:solidFill>
                      <a:srgbClr val="F2F5F8"/>
                    </a:solidFill>
                  </a:tcPr>
                </a:tc>
                <a:tc>
                  <a:txBody>
                    <a:bodyPr wrap="square"/>
                    <a:lstStyle/>
                    <a:p>
                      <a:pPr algn="ctr"/>
                      <a:r>
                        <a:rPr sz="1800" b="0">
                          <a:solidFill>
                            <a:srgbClr val="1F2A33"/>
                          </a:solidFill>
                          <a:latin typeface="Arial"/>
                        </a:rPr>
                        <a:t>0.0 %</a:t>
                      </a:r>
                    </a:p>
                  </a:txBody>
                  <a:tcPr marL="54864" marR="54864" marT="18288" marB="18288" anchor="ctr">
                    <a:solidFill>
                      <a:srgbClr val="F2F5F8"/>
                    </a:solidFill>
                  </a:tcPr>
                </a:tc>
              </a:tr>
              <a:tr h="475488">
                <a:tc>
                  <a:txBody>
                    <a:bodyPr wrap="square"/>
                    <a:lstStyle/>
                    <a:p>
                      <a:pPr algn="l"/>
                      <a:r>
                        <a:rPr sz="1800" b="1">
                          <a:solidFill>
                            <a:srgbClr val="1F2A33"/>
                          </a:solidFill>
                          <a:latin typeface="Arial"/>
                        </a:rPr>
                        <a:t>Resolution ×0.5, ×2</a:t>
                      </a:r>
                    </a:p>
                  </a:txBody>
                  <a:tcPr marL="54864" marR="54864" marT="18288" marB="18288" anchor="ctr">
                    <a:solidFill>
                      <a:srgbClr val="FFFFFF"/>
                    </a:solidFill>
                  </a:tcPr>
                </a:tc>
                <a:tc>
                  <a:txBody>
                    <a:bodyPr wrap="square"/>
                    <a:lstStyle/>
                    <a:p>
                      <a:pPr algn="ctr"/>
                      <a:r>
                        <a:rPr sz="1800" b="0">
                          <a:solidFill>
                            <a:srgbClr val="1F2A33"/>
                          </a:solidFill>
                          <a:latin typeface="Arial"/>
                        </a:rPr>
                        <a:t>6.8 %</a:t>
                      </a:r>
                    </a:p>
                  </a:txBody>
                  <a:tcPr marL="54864" marR="54864" marT="18288" marB="18288" anchor="ctr">
                    <a:solidFill>
                      <a:srgbClr val="FFFFFF"/>
                    </a:solidFill>
                  </a:tcPr>
                </a:tc>
                <a:tc>
                  <a:txBody>
                    <a:bodyPr wrap="square"/>
                    <a:lstStyle/>
                    <a:p>
                      <a:pPr algn="ctr"/>
                      <a:r>
                        <a:rPr sz="1800" b="0">
                          <a:solidFill>
                            <a:srgbClr val="1F2A33"/>
                          </a:solidFill>
                          <a:latin typeface="Arial"/>
                        </a:rPr>
                        <a:t>1.8 %</a:t>
                      </a:r>
                    </a:p>
                  </a:txBody>
                  <a:tcPr marL="54864" marR="54864" marT="18288" marB="18288" anchor="ctr">
                    <a:solidFill>
                      <a:srgbClr val="FFFFFF"/>
                    </a:solidFill>
                  </a:tcPr>
                </a:tc>
              </a:tr>
              <a:tr h="475488">
                <a:tc>
                  <a:txBody>
                    <a:bodyPr wrap="square"/>
                    <a:lstStyle/>
                    <a:p>
                      <a:pPr algn="l"/>
                      <a:r>
                        <a:rPr sz="1800" b="1">
                          <a:solidFill>
                            <a:srgbClr val="1F2A33"/>
                          </a:solidFill>
                          <a:latin typeface="Arial"/>
                        </a:rPr>
                        <a:t>Speckle, pinholes, spurs, breaks</a:t>
                      </a:r>
                    </a:p>
                  </a:txBody>
                  <a:tcPr marL="54864" marR="54864" marT="18288" marB="18288" anchor="ctr">
                    <a:solidFill>
                      <a:srgbClr val="F2F5F8"/>
                    </a:solidFill>
                  </a:tcPr>
                </a:tc>
                <a:tc>
                  <a:txBody>
                    <a:bodyPr wrap="square"/>
                    <a:lstStyle/>
                    <a:p>
                      <a:pPr algn="ctr"/>
                      <a:r>
                        <a:rPr sz="1800" b="0">
                          <a:solidFill>
                            <a:srgbClr val="1F2A33"/>
                          </a:solidFill>
                          <a:latin typeface="Arial"/>
                        </a:rPr>
                        <a:t>1.9 %</a:t>
                      </a:r>
                    </a:p>
                  </a:txBody>
                  <a:tcPr marL="54864" marR="54864" marT="18288" marB="18288" anchor="ctr">
                    <a:solidFill>
                      <a:srgbClr val="F2F5F8"/>
                    </a:solidFill>
                  </a:tcPr>
                </a:tc>
                <a:tc>
                  <a:txBody>
                    <a:bodyPr wrap="square"/>
                    <a:lstStyle/>
                    <a:p>
                      <a:pPr algn="ctr"/>
                      <a:r>
                        <a:rPr sz="1800" b="0">
                          <a:solidFill>
                            <a:srgbClr val="1F2A33"/>
                          </a:solidFill>
                          <a:latin typeface="Arial"/>
                        </a:rPr>
                        <a:t>1.8 %</a:t>
                      </a:r>
                    </a:p>
                  </a:txBody>
                  <a:tcPr marL="54864" marR="54864" marT="18288" marB="18288" anchor="ctr">
                    <a:solidFill>
                      <a:srgbClr val="F2F5F8"/>
                    </a:solidFill>
                  </a:tcPr>
                </a:tc>
              </a:tr>
              <a:tr h="475488">
                <a:tc>
                  <a:txBody>
                    <a:bodyPr wrap="square"/>
                    <a:lstStyle/>
                    <a:p>
                      <a:pPr algn="l"/>
                      <a:r>
                        <a:rPr sz="1800" b="1">
                          <a:solidFill>
                            <a:srgbClr val="1F2A33"/>
                          </a:solidFill>
                          <a:latin typeface="Arial"/>
                        </a:rPr>
                        <a:t>Boundary roughness (10 % flips)</a:t>
                      </a:r>
                    </a:p>
                  </a:txBody>
                  <a:tcPr marL="54864" marR="54864" marT="18288" marB="18288" anchor="ctr">
                    <a:solidFill>
                      <a:srgbClr val="FFFFFF"/>
                    </a:solidFill>
                  </a:tcPr>
                </a:tc>
                <a:tc>
                  <a:txBody>
                    <a:bodyPr wrap="square"/>
                    <a:lstStyle/>
                    <a:p>
                      <a:pPr algn="ctr"/>
                      <a:r>
                        <a:rPr sz="1800" b="0">
                          <a:solidFill>
                            <a:srgbClr val="1F2A33"/>
                          </a:solidFill>
                          <a:latin typeface="Arial"/>
                        </a:rPr>
                        <a:t>19.3 %</a:t>
                      </a:r>
                    </a:p>
                  </a:txBody>
                  <a:tcPr marL="54864" marR="54864" marT="18288" marB="18288" anchor="ctr">
                    <a:solidFill>
                      <a:srgbClr val="FFFFFF"/>
                    </a:solidFill>
                  </a:tcPr>
                </a:tc>
                <a:tc>
                  <a:txBody>
                    <a:bodyPr wrap="square"/>
                    <a:lstStyle/>
                    <a:p>
                      <a:pPr algn="ctr"/>
                      <a:r>
                        <a:rPr sz="1800" b="0">
                          <a:solidFill>
                            <a:srgbClr val="1F2A33"/>
                          </a:solidFill>
                          <a:latin typeface="Arial"/>
                        </a:rPr>
                        <a:t>5.2 %</a:t>
                      </a:r>
                    </a:p>
                  </a:txBody>
                  <a:tcPr marL="54864" marR="54864" marT="18288" marB="18288" anchor="ctr">
                    <a:solidFill>
                      <a:srgbClr val="FFFFFF"/>
                    </a:solidFill>
                  </a:tcPr>
                </a:tc>
              </a:tr>
              <a:tr h="475488">
                <a:tc>
                  <a:txBody>
                    <a:bodyPr wrap="square"/>
                    <a:lstStyle/>
                    <a:p>
                      <a:pPr algn="l"/>
                      <a:r>
                        <a:rPr sz="1800" b="1">
                          <a:solidFill>
                            <a:srgbClr val="1F2A33"/>
                          </a:solidFill>
                          <a:latin typeface="Arial"/>
                        </a:rPr>
                        <a:t>Single cluster / mesh</a:t>
                      </a:r>
                    </a:p>
                  </a:txBody>
                  <a:tcPr marL="54864" marR="54864" marT="18288" marB="18288" anchor="ctr">
                    <a:solidFill>
                      <a:srgbClr val="F2F5F8"/>
                    </a:solidFill>
                  </a:tcPr>
                </a:tc>
                <a:tc>
                  <a:txBody>
                    <a:bodyPr wrap="square"/>
                    <a:lstStyle/>
                    <a:p>
                      <a:pPr algn="ctr"/>
                      <a:r>
                        <a:rPr sz="1800" b="0">
                          <a:solidFill>
                            <a:srgbClr val="1F2A33"/>
                          </a:solidFill>
                          <a:latin typeface="Arial"/>
                        </a:rPr>
                        <a:t>0 (undefined)</a:t>
                      </a:r>
                    </a:p>
                  </a:txBody>
                  <a:tcPr marL="54864" marR="54864" marT="18288" marB="18288" anchor="ctr">
                    <a:solidFill>
                      <a:srgbClr val="F2F5F8"/>
                    </a:solidFill>
                  </a:tcPr>
                </a:tc>
                <a:tc>
                  <a:txBody>
                    <a:bodyPr wrap="square"/>
                    <a:lstStyle/>
                    <a:p>
                      <a:pPr algn="ctr"/>
                      <a:r>
                        <a:rPr sz="1800" b="0">
                          <a:solidFill>
                            <a:srgbClr val="1F2A33"/>
                          </a:solidFill>
                          <a:latin typeface="Arial"/>
                        </a:rPr>
                        <a:t>finite (iso 1.00)</a:t>
                      </a:r>
                    </a:p>
                  </a:txBody>
                  <a:tcPr marL="54864" marR="54864" marT="18288" marB="18288" anchor="ctr">
                    <a:solidFill>
                      <a:srgbClr val="F2F5F8"/>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600" b="1">
                <a:solidFill>
                  <a:srgbClr val="FFFFFF"/>
                </a:solidFill>
                <a:latin typeface="Arial"/>
              </a:rPr>
              <a:t>The δ_max rule: owner default versus alternatives</a:t>
            </a:r>
          </a:p>
        </p:txBody>
      </p:sp>
      <p:sp>
        <p:nvSpPr>
          <p:cNvPr id="3" name="Rectangle 2"/>
          <p:cNvSpPr/>
          <p:nvPr/>
        </p:nvSpPr>
        <p:spPr>
          <a:xfrm>
            <a:off x="0" y="6199632"/>
            <a:ext cx="12191695"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000" b="0">
                <a:solidFill>
                  <a:srgbClr val="FFFFFF"/>
                </a:solidFill>
                <a:latin typeface="Arial"/>
              </a:rPr>
              <a:t>Default kept (1/5 of smallest hydride); compare specimens only with one fixed δ_max</a:t>
            </a:r>
          </a:p>
        </p:txBody>
      </p:sp>
      <p:pic>
        <p:nvPicPr>
          <p:cNvPr id="4" name="Picture 3" descr="delta_rules.png"/>
          <p:cNvPicPr>
            <a:picLocks noChangeAspect="1"/>
          </p:cNvPicPr>
          <p:nvPr/>
        </p:nvPicPr>
        <p:blipFill>
          <a:blip r:embed="rId3"/>
          <a:stretch>
            <a:fillRect/>
          </a:stretch>
        </p:blipFill>
        <p:spPr>
          <a:xfrm>
            <a:off x="228600" y="1415449"/>
            <a:ext cx="11734495" cy="4100253"/>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600" b="1">
                <a:solidFill>
                  <a:srgbClr val="FFFFFF"/>
                </a:solidFill>
                <a:latin typeface="Arial"/>
              </a:rPr>
              <a:t>Real micrographs from the intern report (25, 70, 200 ppm)</a:t>
            </a:r>
          </a:p>
        </p:txBody>
      </p:sp>
      <p:sp>
        <p:nvSpPr>
          <p:cNvPr id="3" name="Rectangle 2"/>
          <p:cNvSpPr/>
          <p:nvPr/>
        </p:nvSpPr>
        <p:spPr>
          <a:xfrm>
            <a:off x="0" y="6199632"/>
            <a:ext cx="12191695"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000" b="0">
                <a:solidFill>
                  <a:srgbClr val="FFFFFF"/>
                </a:solidFill>
                <a:latin typeface="Arial"/>
              </a:rPr>
              <a:t>The same pipeline runs on the report masks and on re-segmented micrographs (ML model)</a:t>
            </a:r>
          </a:p>
        </p:txBody>
      </p:sp>
      <p:pic>
        <p:nvPicPr>
          <p:cNvPr id="4" name="Picture 3" descr="real_grid.png"/>
          <p:cNvPicPr>
            <a:picLocks noChangeAspect="1"/>
          </p:cNvPicPr>
          <p:nvPr/>
        </p:nvPicPr>
        <p:blipFill>
          <a:blip r:embed="rId3"/>
          <a:stretch>
            <a:fillRect/>
          </a:stretch>
        </p:blipFill>
        <p:spPr>
          <a:xfrm>
            <a:off x="1607505" y="822960"/>
            <a:ext cx="8976684" cy="5285232"/>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600" b="1">
                <a:solidFill>
                  <a:srgbClr val="FFFFFF"/>
                </a:solidFill>
                <a:latin typeface="Arial"/>
              </a:rPr>
              <a:t>200 ppm, step 3: gap graph on a real mask</a:t>
            </a:r>
          </a:p>
        </p:txBody>
      </p:sp>
      <p:sp>
        <p:nvSpPr>
          <p:cNvPr id="3" name="Rectangle 2"/>
          <p:cNvSpPr/>
          <p:nvPr/>
        </p:nvSpPr>
        <p:spPr>
          <a:xfrm>
            <a:off x="0" y="6199632"/>
            <a:ext cx="12191695"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000" b="0">
                <a:solidFill>
                  <a:srgbClr val="FFFFFF"/>
                </a:solidFill>
                <a:latin typeface="Arial"/>
              </a:rPr>
              <a:t>On real masks the gap graph is dense; each gap sets the δ at which two clusters merge</a:t>
            </a:r>
          </a:p>
        </p:txBody>
      </p:sp>
      <p:pic>
        <p:nvPicPr>
          <p:cNvPr id="4" name="Picture 3" descr="real200_stage2.png"/>
          <p:cNvPicPr>
            <a:picLocks noChangeAspect="1"/>
          </p:cNvPicPr>
          <p:nvPr/>
        </p:nvPicPr>
        <p:blipFill>
          <a:blip r:embed="rId3"/>
          <a:stretch>
            <a:fillRect/>
          </a:stretch>
        </p:blipFill>
        <p:spPr>
          <a:xfrm>
            <a:off x="2584334" y="822960"/>
            <a:ext cx="7023027" cy="5285232"/>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600" b="1">
                <a:solidFill>
                  <a:srgbClr val="FFFFFF"/>
                </a:solidFill>
                <a:latin typeface="Arial"/>
              </a:rPr>
              <a:t>200 ppm, step 4: clusters as δ grows</a:t>
            </a:r>
          </a:p>
        </p:txBody>
      </p:sp>
      <p:sp>
        <p:nvSpPr>
          <p:cNvPr id="3" name="Rectangle 2"/>
          <p:cNvSpPr/>
          <p:nvPr/>
        </p:nvSpPr>
        <p:spPr>
          <a:xfrm>
            <a:off x="0" y="6199632"/>
            <a:ext cx="12191695"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000" b="0">
                <a:solidFill>
                  <a:srgbClr val="FFFFFF"/>
                </a:solidFill>
                <a:latin typeface="Arial"/>
              </a:rPr>
              <a:t>Circumferential chains link first; radial linking needs much larger gaps</a:t>
            </a:r>
          </a:p>
        </p:txBody>
      </p:sp>
      <p:pic>
        <p:nvPicPr>
          <p:cNvPr id="4" name="Picture 3" descr="real200_stage3.png"/>
          <p:cNvPicPr>
            <a:picLocks noChangeAspect="1"/>
          </p:cNvPicPr>
          <p:nvPr/>
        </p:nvPicPr>
        <p:blipFill>
          <a:blip r:embed="rId3"/>
          <a:stretch>
            <a:fillRect/>
          </a:stretch>
        </p:blipFill>
        <p:spPr>
          <a:xfrm>
            <a:off x="228600" y="2181639"/>
            <a:ext cx="11734495" cy="2567873"/>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600" b="1">
                <a:solidFill>
                  <a:srgbClr val="FFFFFF"/>
                </a:solidFill>
                <a:latin typeface="Arial"/>
              </a:rPr>
              <a:t>200 ppm, step 5: coverage and connectivity functions</a:t>
            </a:r>
          </a:p>
        </p:txBody>
      </p:sp>
      <p:sp>
        <p:nvSpPr>
          <p:cNvPr id="3" name="Rectangle 2"/>
          <p:cNvSpPr/>
          <p:nvPr/>
        </p:nvSpPr>
        <p:spPr>
          <a:xfrm>
            <a:off x="0" y="6199632"/>
            <a:ext cx="12191695"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000" b="0">
                <a:solidFill>
                  <a:srgbClr val="FFFFFF"/>
                </a:solidFill>
                <a:latin typeface="Arial"/>
              </a:rPr>
              <a:t>Circumferential and isotropic connectivity are high; radial connectivity stays low (HCI R = 0.06)</a:t>
            </a:r>
          </a:p>
        </p:txBody>
      </p:sp>
      <p:pic>
        <p:nvPicPr>
          <p:cNvPr id="4" name="Picture 3" descr="real200_stage4.png"/>
          <p:cNvPicPr>
            <a:picLocks noChangeAspect="1"/>
          </p:cNvPicPr>
          <p:nvPr/>
        </p:nvPicPr>
        <p:blipFill>
          <a:blip r:embed="rId3"/>
          <a:stretch>
            <a:fillRect/>
          </a:stretch>
        </p:blipFill>
        <p:spPr>
          <a:xfrm>
            <a:off x="228600" y="1166545"/>
            <a:ext cx="11734495" cy="459806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600" b="1">
                <a:solidFill>
                  <a:srgbClr val="FFFFFF"/>
                </a:solidFill>
                <a:latin typeface="Arial"/>
              </a:rPr>
              <a:t>200 ppm, companions: weakest path and topology</a:t>
            </a:r>
          </a:p>
        </p:txBody>
      </p:sp>
      <p:sp>
        <p:nvSpPr>
          <p:cNvPr id="3" name="Rectangle 2"/>
          <p:cNvSpPr/>
          <p:nvPr/>
        </p:nvSpPr>
        <p:spPr>
          <a:xfrm>
            <a:off x="0" y="6199632"/>
            <a:ext cx="12191695"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000" b="0">
                <a:solidFill>
                  <a:srgbClr val="FFFFFF"/>
                </a:solidFill>
                <a:latin typeface="Arial"/>
              </a:rPr>
              <a:t>The weakest radial path must cross mostly matrix; the network starts to close (κ = 0.13)</a:t>
            </a:r>
          </a:p>
        </p:txBody>
      </p:sp>
      <p:pic>
        <p:nvPicPr>
          <p:cNvPr id="4" name="Picture 3" descr="real200_stage5.png"/>
          <p:cNvPicPr>
            <a:picLocks noChangeAspect="1"/>
          </p:cNvPicPr>
          <p:nvPr/>
        </p:nvPicPr>
        <p:blipFill>
          <a:blip r:embed="rId3"/>
          <a:stretch>
            <a:fillRect/>
          </a:stretch>
        </p:blipFill>
        <p:spPr>
          <a:xfrm>
            <a:off x="228600" y="1135785"/>
            <a:ext cx="11734495" cy="465958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600" b="1">
                <a:solidFill>
                  <a:srgbClr val="FFFFFF"/>
                </a:solidFill>
                <a:latin typeface="Arial"/>
              </a:rPr>
              <a:t>Real micrographs: results</a:t>
            </a:r>
          </a:p>
        </p:txBody>
      </p:sp>
      <p:sp>
        <p:nvSpPr>
          <p:cNvPr id="3" name="Rectangle 2"/>
          <p:cNvSpPr/>
          <p:nvPr/>
        </p:nvSpPr>
        <p:spPr>
          <a:xfrm>
            <a:off x="0" y="6199632"/>
            <a:ext cx="12191695"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000" b="0">
                <a:solidFill>
                  <a:srgbClr val="FFFFFF"/>
                </a:solidFill>
                <a:latin typeface="Arial"/>
              </a:rPr>
              <a:t>Circumferential connectivity and closure rise, δ½ falls 88 → 24 µm; through-wall connectivity stays low</a:t>
            </a:r>
          </a:p>
        </p:txBody>
      </p:sp>
      <p:pic>
        <p:nvPicPr>
          <p:cNvPr id="4" name="Picture 3" descr="real_results.png"/>
          <p:cNvPicPr>
            <a:picLocks noChangeAspect="1"/>
          </p:cNvPicPr>
          <p:nvPr/>
        </p:nvPicPr>
        <p:blipFill>
          <a:blip r:embed="rId3"/>
          <a:stretch>
            <a:fillRect/>
          </a:stretch>
        </p:blipFill>
        <p:spPr>
          <a:xfrm>
            <a:off x="895539" y="822960"/>
            <a:ext cx="10400616" cy="3063240"/>
          </a:xfrm>
          <a:prstGeom prst="rect">
            <a:avLst/>
          </a:prstGeom>
        </p:spPr>
      </p:pic>
      <p:graphicFrame>
        <p:nvGraphicFramePr>
          <p:cNvPr id="5" name="Table 4"/>
          <p:cNvGraphicFramePr>
            <a:graphicFrameLocks noGrp="1"/>
          </p:cNvGraphicFramePr>
          <p:nvPr/>
        </p:nvGraphicFramePr>
        <p:xfrm>
          <a:off x="365760" y="3977640"/>
          <a:ext cx="11457432" cy="1828800"/>
        </p:xfrm>
        <a:graphic>
          <a:graphicData uri="http://schemas.openxmlformats.org/drawingml/2006/table">
            <a:tbl>
              <a:tblPr firstRow="1" bandRow="1">
                <a:tableStyleId>{5C22544A-7EE6-4342-B048-85BDC9FD1C3A}</a:tableStyleId>
              </a:tblPr>
              <a:tblGrid>
                <a:gridCol w="1463040"/>
                <a:gridCol w="1005840"/>
                <a:gridCol w="2926080"/>
                <a:gridCol w="1097280"/>
                <a:gridCol w="1097280"/>
                <a:gridCol w="1188720"/>
                <a:gridCol w="1325880"/>
                <a:gridCol w="1353312"/>
              </a:tblGrid>
              <a:tr h="457200">
                <a:tc>
                  <a:txBody>
                    <a:bodyPr wrap="square"/>
                    <a:lstStyle/>
                    <a:p>
                      <a:pPr algn="l"/>
                      <a:r>
                        <a:rPr sz="1800" b="1">
                          <a:solidFill>
                            <a:srgbClr val="FFFFFF"/>
                          </a:solidFill>
                          <a:latin typeface="Arial"/>
                        </a:rPr>
                        <a:t>Specimen</a:t>
                      </a:r>
                    </a:p>
                  </a:txBody>
                  <a:tcPr marL="54864" marR="54864" marT="18288" marB="18288" anchor="ctr">
                    <a:solidFill>
                      <a:srgbClr val="1D3557"/>
                    </a:solidFill>
                  </a:tcPr>
                </a:tc>
                <a:tc>
                  <a:txBody>
                    <a:bodyPr wrap="square"/>
                    <a:lstStyle/>
                    <a:p>
                      <a:pPr algn="ctr"/>
                      <a:r>
                        <a:rPr sz="1800" b="1">
                          <a:solidFill>
                            <a:srgbClr val="FFFFFF"/>
                          </a:solidFill>
                          <a:latin typeface="Arial"/>
                        </a:rPr>
                        <a:t>Af</a:t>
                      </a:r>
                    </a:p>
                  </a:txBody>
                  <a:tcPr marL="54864" marR="54864" marT="18288" marB="18288" anchor="ctr">
                    <a:solidFill>
                      <a:srgbClr val="1D3557"/>
                    </a:solidFill>
                  </a:tcPr>
                </a:tc>
                <a:tc>
                  <a:txBody>
                    <a:bodyPr wrap="square"/>
                    <a:lstStyle/>
                    <a:p>
                      <a:pPr algn="ctr"/>
                      <a:r>
                        <a:rPr sz="1800" b="1">
                          <a:solidFill>
                            <a:srgbClr val="FFFFFF"/>
                          </a:solidFill>
                          <a:latin typeface="Arial"/>
                        </a:rPr>
                        <a:t>Prototype (report / re-run)</a:t>
                      </a:r>
                    </a:p>
                  </a:txBody>
                  <a:tcPr marL="54864" marR="54864" marT="18288" marB="18288" anchor="ctr">
                    <a:solidFill>
                      <a:srgbClr val="1D3557"/>
                    </a:solidFill>
                  </a:tcPr>
                </a:tc>
                <a:tc>
                  <a:txBody>
                    <a:bodyPr wrap="square"/>
                    <a:lstStyle/>
                    <a:p>
                      <a:pPr algn="ctr"/>
                      <a:r>
                        <a:rPr sz="1800" b="1">
                          <a:solidFill>
                            <a:srgbClr val="FFFFFF"/>
                          </a:solidFill>
                          <a:latin typeface="Arial"/>
                        </a:rPr>
                        <a:t>HCI R</a:t>
                      </a:r>
                    </a:p>
                  </a:txBody>
                  <a:tcPr marL="54864" marR="54864" marT="18288" marB="18288" anchor="ctr">
                    <a:solidFill>
                      <a:srgbClr val="1D3557"/>
                    </a:solidFill>
                  </a:tcPr>
                </a:tc>
                <a:tc>
                  <a:txBody>
                    <a:bodyPr wrap="square"/>
                    <a:lstStyle/>
                    <a:p>
                      <a:pPr algn="ctr"/>
                      <a:r>
                        <a:rPr sz="1800" b="1">
                          <a:solidFill>
                            <a:srgbClr val="FFFFFF"/>
                          </a:solidFill>
                          <a:latin typeface="Arial"/>
                        </a:rPr>
                        <a:t>HCI C</a:t>
                      </a:r>
                    </a:p>
                  </a:txBody>
                  <a:tcPr marL="54864" marR="54864" marT="18288" marB="18288" anchor="ctr">
                    <a:solidFill>
                      <a:srgbClr val="1D3557"/>
                    </a:solidFill>
                  </a:tcPr>
                </a:tc>
                <a:tc>
                  <a:txBody>
                    <a:bodyPr wrap="square"/>
                    <a:lstStyle/>
                    <a:p>
                      <a:pPr algn="ctr"/>
                      <a:r>
                        <a:rPr sz="1800" b="1">
                          <a:solidFill>
                            <a:srgbClr val="FFFFFF"/>
                          </a:solidFill>
                          <a:latin typeface="Arial"/>
                        </a:rPr>
                        <a:t>HCI iso</a:t>
                      </a:r>
                    </a:p>
                  </a:txBody>
                  <a:tcPr marL="54864" marR="54864" marT="18288" marB="18288" anchor="ctr">
                    <a:solidFill>
                      <a:srgbClr val="1D3557"/>
                    </a:solidFill>
                  </a:tcPr>
                </a:tc>
                <a:tc>
                  <a:txBody>
                    <a:bodyPr wrap="square"/>
                    <a:lstStyle/>
                    <a:p>
                      <a:pPr algn="ctr"/>
                      <a:r>
                        <a:rPr sz="1800" b="1">
                          <a:solidFill>
                            <a:srgbClr val="FFFFFF"/>
                          </a:solidFill>
                          <a:latin typeface="Arial"/>
                        </a:rPr>
                        <a:t>δ½ R (µm)</a:t>
                      </a:r>
                    </a:p>
                  </a:txBody>
                  <a:tcPr marL="54864" marR="54864" marT="18288" marB="18288" anchor="ctr">
                    <a:solidFill>
                      <a:srgbClr val="1D3557"/>
                    </a:solidFill>
                  </a:tcPr>
                </a:tc>
                <a:tc>
                  <a:txBody>
                    <a:bodyPr wrap="square"/>
                    <a:lstStyle/>
                    <a:p>
                      <a:pPr algn="ctr"/>
                      <a:r>
                        <a:rPr sz="1800" b="1">
                          <a:solidFill>
                            <a:srgbClr val="FFFFFF"/>
                          </a:solidFill>
                          <a:latin typeface="Arial"/>
                        </a:rPr>
                        <a:t>κ</a:t>
                      </a:r>
                    </a:p>
                  </a:txBody>
                  <a:tcPr marL="54864" marR="54864" marT="18288" marB="18288" anchor="ctr">
                    <a:solidFill>
                      <a:srgbClr val="1D3557"/>
                    </a:solidFill>
                  </a:tcPr>
                </a:tc>
              </a:tr>
              <a:tr h="457200">
                <a:tc>
                  <a:txBody>
                    <a:bodyPr wrap="square"/>
                    <a:lstStyle/>
                    <a:p>
                      <a:pPr algn="l"/>
                      <a:r>
                        <a:rPr sz="1800" b="1">
                          <a:solidFill>
                            <a:srgbClr val="1F2A33"/>
                          </a:solidFill>
                          <a:latin typeface="Arial"/>
                        </a:rPr>
                        <a:t>25 ppm</a:t>
                      </a:r>
                    </a:p>
                  </a:txBody>
                  <a:tcPr marL="54864" marR="54864" marT="18288" marB="18288" anchor="ctr">
                    <a:solidFill>
                      <a:srgbClr val="F2F5F8"/>
                    </a:solidFill>
                  </a:tcPr>
                </a:tc>
                <a:tc>
                  <a:txBody>
                    <a:bodyPr wrap="square"/>
                    <a:lstStyle/>
                    <a:p>
                      <a:pPr algn="ctr"/>
                      <a:r>
                        <a:rPr sz="1800" b="0">
                          <a:solidFill>
                            <a:srgbClr val="1F2A33"/>
                          </a:solidFill>
                          <a:latin typeface="Arial"/>
                        </a:rPr>
                        <a:t>5.3 %</a:t>
                      </a:r>
                    </a:p>
                  </a:txBody>
                  <a:tcPr marL="54864" marR="54864" marT="18288" marB="18288" anchor="ctr">
                    <a:solidFill>
                      <a:srgbClr val="F2F5F8"/>
                    </a:solidFill>
                  </a:tcPr>
                </a:tc>
                <a:tc>
                  <a:txBody>
                    <a:bodyPr wrap="square"/>
                    <a:lstStyle/>
                    <a:p>
                      <a:pPr algn="ctr"/>
                      <a:r>
                        <a:rPr sz="1800" b="0">
                          <a:solidFill>
                            <a:srgbClr val="1F2A33"/>
                          </a:solidFill>
                          <a:latin typeface="Arial"/>
                        </a:rPr>
                        <a:t>2.59 / 2.44</a:t>
                      </a:r>
                    </a:p>
                  </a:txBody>
                  <a:tcPr marL="54864" marR="54864" marT="18288" marB="18288" anchor="ctr">
                    <a:solidFill>
                      <a:srgbClr val="F2F5F8"/>
                    </a:solidFill>
                  </a:tcPr>
                </a:tc>
                <a:tc>
                  <a:txBody>
                    <a:bodyPr wrap="square"/>
                    <a:lstStyle/>
                    <a:p>
                      <a:pPr algn="ctr"/>
                      <a:r>
                        <a:rPr sz="1800" b="0">
                          <a:solidFill>
                            <a:srgbClr val="1F2A33"/>
                          </a:solidFill>
                          <a:latin typeface="Arial"/>
                        </a:rPr>
                        <a:t>0.038</a:t>
                      </a:r>
                    </a:p>
                  </a:txBody>
                  <a:tcPr marL="54864" marR="54864" marT="18288" marB="18288" anchor="ctr">
                    <a:solidFill>
                      <a:srgbClr val="F2F5F8"/>
                    </a:solidFill>
                  </a:tcPr>
                </a:tc>
                <a:tc>
                  <a:txBody>
                    <a:bodyPr wrap="square"/>
                    <a:lstStyle/>
                    <a:p>
                      <a:pPr algn="ctr"/>
                      <a:r>
                        <a:rPr sz="1800" b="0">
                          <a:solidFill>
                            <a:srgbClr val="1F2A33"/>
                          </a:solidFill>
                          <a:latin typeface="Arial"/>
                        </a:rPr>
                        <a:t>0.155</a:t>
                      </a:r>
                    </a:p>
                  </a:txBody>
                  <a:tcPr marL="54864" marR="54864" marT="18288" marB="18288" anchor="ctr">
                    <a:solidFill>
                      <a:srgbClr val="F2F5F8"/>
                    </a:solidFill>
                  </a:tcPr>
                </a:tc>
                <a:tc>
                  <a:txBody>
                    <a:bodyPr wrap="square"/>
                    <a:lstStyle/>
                    <a:p>
                      <a:pPr algn="ctr"/>
                      <a:r>
                        <a:rPr sz="1800" b="0">
                          <a:solidFill>
                            <a:srgbClr val="1F2A33"/>
                          </a:solidFill>
                          <a:latin typeface="Arial"/>
                        </a:rPr>
                        <a:t>0.208</a:t>
                      </a:r>
                    </a:p>
                  </a:txBody>
                  <a:tcPr marL="54864" marR="54864" marT="18288" marB="18288" anchor="ctr">
                    <a:solidFill>
                      <a:srgbClr val="F2F5F8"/>
                    </a:solidFill>
                  </a:tcPr>
                </a:tc>
                <a:tc>
                  <a:txBody>
                    <a:bodyPr wrap="square"/>
                    <a:lstStyle/>
                    <a:p>
                      <a:pPr algn="ctr"/>
                      <a:r>
                        <a:rPr sz="1800" b="0">
                          <a:solidFill>
                            <a:srgbClr val="1F2A33"/>
                          </a:solidFill>
                          <a:latin typeface="Arial"/>
                        </a:rPr>
                        <a:t>88</a:t>
                      </a:r>
                    </a:p>
                  </a:txBody>
                  <a:tcPr marL="54864" marR="54864" marT="18288" marB="18288" anchor="ctr">
                    <a:solidFill>
                      <a:srgbClr val="F2F5F8"/>
                    </a:solidFill>
                  </a:tcPr>
                </a:tc>
                <a:tc>
                  <a:txBody>
                    <a:bodyPr wrap="square"/>
                    <a:lstStyle/>
                    <a:p>
                      <a:pPr algn="ctr"/>
                      <a:r>
                        <a:rPr sz="1800" b="0">
                          <a:solidFill>
                            <a:srgbClr val="1F2A33"/>
                          </a:solidFill>
                          <a:latin typeface="Arial"/>
                        </a:rPr>
                        <a:t>0.02</a:t>
                      </a:r>
                    </a:p>
                  </a:txBody>
                  <a:tcPr marL="54864" marR="54864" marT="18288" marB="18288" anchor="ctr">
                    <a:solidFill>
                      <a:srgbClr val="F2F5F8"/>
                    </a:solidFill>
                  </a:tcPr>
                </a:tc>
              </a:tr>
              <a:tr h="457200">
                <a:tc>
                  <a:txBody>
                    <a:bodyPr wrap="square"/>
                    <a:lstStyle/>
                    <a:p>
                      <a:pPr algn="l"/>
                      <a:r>
                        <a:rPr sz="1800" b="1">
                          <a:solidFill>
                            <a:srgbClr val="1F2A33"/>
                          </a:solidFill>
                          <a:latin typeface="Arial"/>
                        </a:rPr>
                        <a:t>70 ppm</a:t>
                      </a:r>
                    </a:p>
                  </a:txBody>
                  <a:tcPr marL="54864" marR="54864" marT="18288" marB="18288" anchor="ctr">
                    <a:solidFill>
                      <a:srgbClr val="FFFFFF"/>
                    </a:solidFill>
                  </a:tcPr>
                </a:tc>
                <a:tc>
                  <a:txBody>
                    <a:bodyPr wrap="square"/>
                    <a:lstStyle/>
                    <a:p>
                      <a:pPr algn="ctr"/>
                      <a:r>
                        <a:rPr sz="1800" b="0">
                          <a:solidFill>
                            <a:srgbClr val="1F2A33"/>
                          </a:solidFill>
                          <a:latin typeface="Arial"/>
                        </a:rPr>
                        <a:t>9.1 %</a:t>
                      </a:r>
                    </a:p>
                  </a:txBody>
                  <a:tcPr marL="54864" marR="54864" marT="18288" marB="18288" anchor="ctr">
                    <a:solidFill>
                      <a:srgbClr val="FFFFFF"/>
                    </a:solidFill>
                  </a:tcPr>
                </a:tc>
                <a:tc>
                  <a:txBody>
                    <a:bodyPr wrap="square"/>
                    <a:lstStyle/>
                    <a:p>
                      <a:pPr algn="ctr"/>
                      <a:r>
                        <a:rPr sz="1800" b="0">
                          <a:solidFill>
                            <a:srgbClr val="1F2A33"/>
                          </a:solidFill>
                          <a:latin typeface="Arial"/>
                        </a:rPr>
                        <a:t>3.38 / 3.12</a:t>
                      </a:r>
                    </a:p>
                  </a:txBody>
                  <a:tcPr marL="54864" marR="54864" marT="18288" marB="18288" anchor="ctr">
                    <a:solidFill>
                      <a:srgbClr val="FFFFFF"/>
                    </a:solidFill>
                  </a:tcPr>
                </a:tc>
                <a:tc>
                  <a:txBody>
                    <a:bodyPr wrap="square"/>
                    <a:lstStyle/>
                    <a:p>
                      <a:pPr algn="ctr"/>
                      <a:r>
                        <a:rPr sz="1800" b="0">
                          <a:solidFill>
                            <a:srgbClr val="1F2A33"/>
                          </a:solidFill>
                          <a:latin typeface="Arial"/>
                        </a:rPr>
                        <a:t>0.046</a:t>
                      </a:r>
                    </a:p>
                  </a:txBody>
                  <a:tcPr marL="54864" marR="54864" marT="18288" marB="18288" anchor="ctr">
                    <a:solidFill>
                      <a:srgbClr val="FFFFFF"/>
                    </a:solidFill>
                  </a:tcPr>
                </a:tc>
                <a:tc>
                  <a:txBody>
                    <a:bodyPr wrap="square"/>
                    <a:lstStyle/>
                    <a:p>
                      <a:pPr algn="ctr"/>
                      <a:r>
                        <a:rPr sz="1800" b="0">
                          <a:solidFill>
                            <a:srgbClr val="1F2A33"/>
                          </a:solidFill>
                          <a:latin typeface="Arial"/>
                        </a:rPr>
                        <a:t>0.182</a:t>
                      </a:r>
                    </a:p>
                  </a:txBody>
                  <a:tcPr marL="54864" marR="54864" marT="18288" marB="18288" anchor="ctr">
                    <a:solidFill>
                      <a:srgbClr val="FFFFFF"/>
                    </a:solidFill>
                  </a:tcPr>
                </a:tc>
                <a:tc>
                  <a:txBody>
                    <a:bodyPr wrap="square"/>
                    <a:lstStyle/>
                    <a:p>
                      <a:pPr algn="ctr"/>
                      <a:r>
                        <a:rPr sz="1800" b="0">
                          <a:solidFill>
                            <a:srgbClr val="1F2A33"/>
                          </a:solidFill>
                          <a:latin typeface="Arial"/>
                        </a:rPr>
                        <a:t>0.246</a:t>
                      </a:r>
                    </a:p>
                  </a:txBody>
                  <a:tcPr marL="54864" marR="54864" marT="18288" marB="18288" anchor="ctr">
                    <a:solidFill>
                      <a:srgbClr val="FFFFFF"/>
                    </a:solidFill>
                  </a:tcPr>
                </a:tc>
                <a:tc>
                  <a:txBody>
                    <a:bodyPr wrap="square"/>
                    <a:lstStyle/>
                    <a:p>
                      <a:pPr algn="ctr"/>
                      <a:r>
                        <a:rPr sz="1800" b="0">
                          <a:solidFill>
                            <a:srgbClr val="1F2A33"/>
                          </a:solidFill>
                          <a:latin typeface="Arial"/>
                        </a:rPr>
                        <a:t>51</a:t>
                      </a:r>
                    </a:p>
                  </a:txBody>
                  <a:tcPr marL="54864" marR="54864" marT="18288" marB="18288" anchor="ctr">
                    <a:solidFill>
                      <a:srgbClr val="FFFFFF"/>
                    </a:solidFill>
                  </a:tcPr>
                </a:tc>
                <a:tc>
                  <a:txBody>
                    <a:bodyPr wrap="square"/>
                    <a:lstStyle/>
                    <a:p>
                      <a:pPr algn="ctr"/>
                      <a:r>
                        <a:rPr sz="1800" b="0">
                          <a:solidFill>
                            <a:srgbClr val="1F2A33"/>
                          </a:solidFill>
                          <a:latin typeface="Arial"/>
                        </a:rPr>
                        <a:t>0.04</a:t>
                      </a:r>
                    </a:p>
                  </a:txBody>
                  <a:tcPr marL="54864" marR="54864" marT="18288" marB="18288" anchor="ctr">
                    <a:solidFill>
                      <a:srgbClr val="FFFFFF"/>
                    </a:solidFill>
                  </a:tcPr>
                </a:tc>
              </a:tr>
              <a:tr h="457200">
                <a:tc>
                  <a:txBody>
                    <a:bodyPr wrap="square"/>
                    <a:lstStyle/>
                    <a:p>
                      <a:pPr algn="l"/>
                      <a:r>
                        <a:rPr sz="1800" b="1">
                          <a:solidFill>
                            <a:srgbClr val="1F2A33"/>
                          </a:solidFill>
                          <a:latin typeface="Arial"/>
                        </a:rPr>
                        <a:t>200 ppm</a:t>
                      </a:r>
                    </a:p>
                  </a:txBody>
                  <a:tcPr marL="54864" marR="54864" marT="18288" marB="18288" anchor="ctr">
                    <a:solidFill>
                      <a:srgbClr val="F2F5F8"/>
                    </a:solidFill>
                  </a:tcPr>
                </a:tc>
                <a:tc>
                  <a:txBody>
                    <a:bodyPr wrap="square"/>
                    <a:lstStyle/>
                    <a:p>
                      <a:pPr algn="ctr"/>
                      <a:r>
                        <a:rPr sz="1800" b="0">
                          <a:solidFill>
                            <a:srgbClr val="1F2A33"/>
                          </a:solidFill>
                          <a:latin typeface="Arial"/>
                        </a:rPr>
                        <a:t>13.7 %</a:t>
                      </a:r>
                    </a:p>
                  </a:txBody>
                  <a:tcPr marL="54864" marR="54864" marT="18288" marB="18288" anchor="ctr">
                    <a:solidFill>
                      <a:srgbClr val="F2F5F8"/>
                    </a:solidFill>
                  </a:tcPr>
                </a:tc>
                <a:tc>
                  <a:txBody>
                    <a:bodyPr wrap="square"/>
                    <a:lstStyle/>
                    <a:p>
                      <a:pPr algn="ctr"/>
                      <a:r>
                        <a:rPr sz="1800" b="0">
                          <a:solidFill>
                            <a:srgbClr val="1F2A33"/>
                          </a:solidFill>
                          <a:latin typeface="Arial"/>
                        </a:rPr>
                        <a:t>8.02 / 6.97</a:t>
                      </a:r>
                    </a:p>
                  </a:txBody>
                  <a:tcPr marL="54864" marR="54864" marT="18288" marB="18288" anchor="ctr">
                    <a:solidFill>
                      <a:srgbClr val="F2F5F8"/>
                    </a:solidFill>
                  </a:tcPr>
                </a:tc>
                <a:tc>
                  <a:txBody>
                    <a:bodyPr wrap="square"/>
                    <a:lstStyle/>
                    <a:p>
                      <a:pPr algn="ctr"/>
                      <a:r>
                        <a:rPr sz="1800" b="0">
                          <a:solidFill>
                            <a:srgbClr val="1F2A33"/>
                          </a:solidFill>
                          <a:latin typeface="Arial"/>
                        </a:rPr>
                        <a:t>0.061</a:t>
                      </a:r>
                    </a:p>
                  </a:txBody>
                  <a:tcPr marL="54864" marR="54864" marT="18288" marB="18288" anchor="ctr">
                    <a:solidFill>
                      <a:srgbClr val="F2F5F8"/>
                    </a:solidFill>
                  </a:tcPr>
                </a:tc>
                <a:tc>
                  <a:txBody>
                    <a:bodyPr wrap="square"/>
                    <a:lstStyle/>
                    <a:p>
                      <a:pPr algn="ctr"/>
                      <a:r>
                        <a:rPr sz="1800" b="0">
                          <a:solidFill>
                            <a:srgbClr val="1F2A33"/>
                          </a:solidFill>
                          <a:latin typeface="Arial"/>
                        </a:rPr>
                        <a:t>0.261</a:t>
                      </a:r>
                    </a:p>
                  </a:txBody>
                  <a:tcPr marL="54864" marR="54864" marT="18288" marB="18288" anchor="ctr">
                    <a:solidFill>
                      <a:srgbClr val="F2F5F8"/>
                    </a:solidFill>
                  </a:tcPr>
                </a:tc>
                <a:tc>
                  <a:txBody>
                    <a:bodyPr wrap="square"/>
                    <a:lstStyle/>
                    <a:p>
                      <a:pPr algn="ctr"/>
                      <a:r>
                        <a:rPr sz="1800" b="0">
                          <a:solidFill>
                            <a:srgbClr val="1F2A33"/>
                          </a:solidFill>
                          <a:latin typeface="Arial"/>
                        </a:rPr>
                        <a:t>0.347</a:t>
                      </a:r>
                    </a:p>
                  </a:txBody>
                  <a:tcPr marL="54864" marR="54864" marT="18288" marB="18288" anchor="ctr">
                    <a:solidFill>
                      <a:srgbClr val="F2F5F8"/>
                    </a:solidFill>
                  </a:tcPr>
                </a:tc>
                <a:tc>
                  <a:txBody>
                    <a:bodyPr wrap="square"/>
                    <a:lstStyle/>
                    <a:p>
                      <a:pPr algn="ctr"/>
                      <a:r>
                        <a:rPr sz="1800" b="0">
                          <a:solidFill>
                            <a:srgbClr val="1F2A33"/>
                          </a:solidFill>
                          <a:latin typeface="Arial"/>
                        </a:rPr>
                        <a:t>24</a:t>
                      </a:r>
                    </a:p>
                  </a:txBody>
                  <a:tcPr marL="54864" marR="54864" marT="18288" marB="18288" anchor="ctr">
                    <a:solidFill>
                      <a:srgbClr val="F2F5F8"/>
                    </a:solidFill>
                  </a:tcPr>
                </a:tc>
                <a:tc>
                  <a:txBody>
                    <a:bodyPr wrap="square"/>
                    <a:lstStyle/>
                    <a:p>
                      <a:pPr algn="ctr"/>
                      <a:r>
                        <a:rPr sz="1800" b="0">
                          <a:solidFill>
                            <a:srgbClr val="1F2A33"/>
                          </a:solidFill>
                          <a:latin typeface="Arial"/>
                        </a:rPr>
                        <a:t>0.13</a:t>
                      </a:r>
                    </a:p>
                  </a:txBody>
                  <a:tcPr marL="54864" marR="54864" marT="18288" marB="18288" anchor="ctr">
                    <a:solidFill>
                      <a:srgbClr val="F2F5F8"/>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600" b="1">
                <a:solidFill>
                  <a:srgbClr val="FFFFFF"/>
                </a:solidFill>
                <a:latin typeface="Arial"/>
              </a:rPr>
              <a:t>Implementation: enabled by default in the web UI</a:t>
            </a:r>
          </a:p>
        </p:txBody>
      </p:sp>
      <p:sp>
        <p:nvSpPr>
          <p:cNvPr id="3" name="Rectangle 2"/>
          <p:cNvSpPr/>
          <p:nvPr/>
        </p:nvSpPr>
        <p:spPr>
          <a:xfrm>
            <a:off x="0" y="6199632"/>
            <a:ext cx="12191695"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000" b="0">
                <a:solidFill>
                  <a:srgbClr val="FFFFFF"/>
                </a:solidFill>
                <a:latin typeface="Arial"/>
              </a:rPr>
              <a:t>One library call behind the web UI, CLI and Python; results in JSON, PDF and XLSX</a:t>
            </a:r>
          </a:p>
        </p:txBody>
      </p:sp>
      <p:pic>
        <p:nvPicPr>
          <p:cNvPr id="4" name="Picture 3" descr="ui_hci_controls.png"/>
          <p:cNvPicPr>
            <a:picLocks noChangeAspect="1"/>
          </p:cNvPicPr>
          <p:nvPr/>
        </p:nvPicPr>
        <p:blipFill>
          <a:blip r:embed="rId3"/>
          <a:stretch>
            <a:fillRect/>
          </a:stretch>
        </p:blipFill>
        <p:spPr>
          <a:xfrm>
            <a:off x="274320" y="885739"/>
            <a:ext cx="3566160" cy="2891960"/>
          </a:xfrm>
          <a:prstGeom prst="rect">
            <a:avLst/>
          </a:prstGeom>
        </p:spPr>
      </p:pic>
      <p:pic>
        <p:nvPicPr>
          <p:cNvPr id="5" name="Picture 4" descr="ui_hci_panel.png"/>
          <p:cNvPicPr>
            <a:picLocks noChangeAspect="1"/>
          </p:cNvPicPr>
          <p:nvPr/>
        </p:nvPicPr>
        <p:blipFill>
          <a:blip r:embed="rId4"/>
          <a:stretch>
            <a:fillRect/>
          </a:stretch>
        </p:blipFill>
        <p:spPr>
          <a:xfrm>
            <a:off x="4302212" y="868680"/>
            <a:ext cx="7306134" cy="1691639"/>
          </a:xfrm>
          <a:prstGeom prst="rect">
            <a:avLst/>
          </a:prstGeom>
        </p:spPr>
      </p:pic>
      <p:pic>
        <p:nvPicPr>
          <p:cNvPr id="6" name="Picture 5" descr="ui_hci_curve_view.png"/>
          <p:cNvPicPr>
            <a:picLocks noChangeAspect="1"/>
          </p:cNvPicPr>
          <p:nvPr/>
        </p:nvPicPr>
        <p:blipFill>
          <a:blip r:embed="rId5"/>
          <a:stretch>
            <a:fillRect/>
          </a:stretch>
        </p:blipFill>
        <p:spPr>
          <a:xfrm>
            <a:off x="4923308" y="2651760"/>
            <a:ext cx="6063942" cy="3410712"/>
          </a:xfrm>
          <a:prstGeom prst="rect">
            <a:avLst/>
          </a:prstGeom>
        </p:spPr>
      </p:pic>
      <p:sp>
        <p:nvSpPr>
          <p:cNvPr id="7" name="TextBox 6"/>
          <p:cNvSpPr txBox="1"/>
          <p:nvPr/>
        </p:nvSpPr>
        <p:spPr>
          <a:xfrm>
            <a:off x="274320" y="3886200"/>
            <a:ext cx="3611880" cy="2194560"/>
          </a:xfrm>
          <a:prstGeom prst="rect">
            <a:avLst/>
          </a:prstGeom>
          <a:noFill/>
        </p:spPr>
        <p:txBody>
          <a:bodyPr wrap="square" lIns="45720" rIns="45720">
            <a:spAutoFit/>
          </a:bodyPr>
          <a:lstStyle/>
          <a:p>
            <a:pPr>
              <a:spcBef>
                <a:spcPts val="1000"/>
              </a:spcBef>
            </a:pPr>
            <a:r>
              <a:rPr sz="2000" b="1">
                <a:solidFill>
                  <a:srgbClr val="0E7C86"/>
                </a:solidFill>
                <a:latin typeface="Arial"/>
              </a:rPr>
              <a:t>Also</a:t>
            </a:r>
          </a:p>
          <a:p>
            <a:pPr>
              <a:spcBef>
                <a:spcPts val="400"/>
              </a:spcBef>
            </a:pPr>
            <a:r>
              <a:rPr sz="1800">
                <a:solidFill>
                  <a:srgbClr val="1F2A33"/>
                </a:solidFill>
                <a:latin typeface="Arial"/>
              </a:rPr>
              <a:t>• CLI: microseg_cli.py hci</a:t>
            </a:r>
          </a:p>
          <a:p>
            <a:pPr>
              <a:spcBef>
                <a:spcPts val="400"/>
              </a:spcBef>
            </a:pPr>
            <a:r>
              <a:rPr sz="1800">
                <a:solidFill>
                  <a:srgbClr val="1F2A33"/>
                </a:solidFill>
                <a:latin typeface="Arial"/>
              </a:rPr>
              <a:t>• Python: analyze_continuity()</a:t>
            </a:r>
          </a:p>
          <a:p>
            <a:pPr>
              <a:spcBef>
                <a:spcPts val="400"/>
              </a:spcBef>
            </a:pPr>
            <a:r>
              <a:rPr sz="1800">
                <a:solidFill>
                  <a:srgbClr val="1F2A33"/>
                </a:solidFill>
                <a:latin typeface="Arial"/>
              </a:rPr>
              <a:t>• PDF page + XLSX sheet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600" b="1">
                <a:solidFill>
                  <a:srgbClr val="FFFFFF"/>
                </a:solidFill>
                <a:latin typeface="Arial"/>
              </a:rPr>
              <a:t>Documentation: theory and algorithm with typeset mathematics</a:t>
            </a:r>
          </a:p>
        </p:txBody>
      </p:sp>
      <p:sp>
        <p:nvSpPr>
          <p:cNvPr id="3" name="Rectangle 2"/>
          <p:cNvSpPr/>
          <p:nvPr/>
        </p:nvSpPr>
        <p:spPr>
          <a:xfrm>
            <a:off x="0" y="6199632"/>
            <a:ext cx="12191695"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000" b="0">
                <a:solidFill>
                  <a:srgbClr val="FFFFFF"/>
                </a:solidFill>
                <a:latin typeface="Arial"/>
              </a:rPr>
              <a:t>The same equations appear in the web Help (KaTeX) and the Sphinx docs (MathJax), with proofs</a:t>
            </a:r>
          </a:p>
        </p:txBody>
      </p:sp>
      <p:pic>
        <p:nvPicPr>
          <p:cNvPr id="4" name="Picture 3" descr="ui_help_math.png"/>
          <p:cNvPicPr>
            <a:picLocks noChangeAspect="1"/>
          </p:cNvPicPr>
          <p:nvPr/>
        </p:nvPicPr>
        <p:blipFill>
          <a:blip r:embed="rId3"/>
          <a:stretch>
            <a:fillRect/>
          </a:stretch>
        </p:blipFill>
        <p:spPr>
          <a:xfrm>
            <a:off x="1234669" y="822959"/>
            <a:ext cx="5577380" cy="5285232"/>
          </a:xfrm>
          <a:prstGeom prst="rect">
            <a:avLst/>
          </a:prstGeom>
        </p:spPr>
      </p:pic>
      <p:sp>
        <p:nvSpPr>
          <p:cNvPr id="5" name="TextBox 4"/>
          <p:cNvSpPr txBox="1"/>
          <p:nvPr/>
        </p:nvSpPr>
        <p:spPr>
          <a:xfrm>
            <a:off x="7955279" y="1005840"/>
            <a:ext cx="3977639" cy="5029200"/>
          </a:xfrm>
          <a:prstGeom prst="rect">
            <a:avLst/>
          </a:prstGeom>
          <a:noFill/>
        </p:spPr>
        <p:txBody>
          <a:bodyPr wrap="square" lIns="45720" rIns="45720">
            <a:spAutoFit/>
          </a:bodyPr>
          <a:lstStyle/>
          <a:p>
            <a:pPr>
              <a:spcBef>
                <a:spcPts val="1000"/>
              </a:spcBef>
            </a:pPr>
            <a:r>
              <a:rPr sz="2000" b="1">
                <a:solidFill>
                  <a:srgbClr val="0E7C86"/>
                </a:solidFill>
                <a:latin typeface="Arial"/>
              </a:rPr>
              <a:t>Web Help</a:t>
            </a:r>
          </a:p>
          <a:p>
            <a:pPr>
              <a:spcBef>
                <a:spcPts val="400"/>
              </a:spcBef>
            </a:pPr>
            <a:r>
              <a:rPr sz="1800">
                <a:solidFill>
                  <a:srgbClr val="1F2A33"/>
                </a:solidFill>
                <a:latin typeface="Arial"/>
              </a:rPr>
              <a:t>• Rendered offline with KaTeX</a:t>
            </a:r>
          </a:p>
          <a:p>
            <a:pPr>
              <a:spcBef>
                <a:spcPts val="400"/>
              </a:spcBef>
            </a:pPr>
            <a:r>
              <a:rPr sz="1800">
                <a:solidFill>
                  <a:srgbClr val="1F2A33"/>
                </a:solidFill>
                <a:latin typeface="Arial"/>
              </a:rPr>
              <a:t>• Concept + flow SVGs</a:t>
            </a:r>
          </a:p>
          <a:p>
            <a:pPr>
              <a:spcBef>
                <a:spcPts val="1000"/>
              </a:spcBef>
            </a:pPr>
            <a:r>
              <a:rPr sz="2000" b="1">
                <a:solidFill>
                  <a:srgbClr val="1D3557"/>
                </a:solidFill>
                <a:latin typeface="Arial"/>
              </a:rPr>
              <a:t>Sphinx</a:t>
            </a:r>
          </a:p>
          <a:p>
            <a:pPr>
              <a:spcBef>
                <a:spcPts val="400"/>
              </a:spcBef>
            </a:pPr>
            <a:r>
              <a:rPr sz="1800">
                <a:solidFill>
                  <a:srgbClr val="1F2A33"/>
                </a:solidFill>
                <a:latin typeface="Arial"/>
              </a:rPr>
              <a:t>• hci_theory: proofs</a:t>
            </a:r>
          </a:p>
          <a:p>
            <a:pPr>
              <a:spcBef>
                <a:spcPts val="400"/>
              </a:spcBef>
            </a:pPr>
            <a:r>
              <a:rPr sz="1800">
                <a:solidFill>
                  <a:srgbClr val="1F2A33"/>
                </a:solidFill>
                <a:latin typeface="Arial"/>
              </a:rPr>
              <a:t>• hci_user_guide</a:t>
            </a:r>
          </a:p>
          <a:p>
            <a:pPr>
              <a:spcBef>
                <a:spcPts val="400"/>
              </a:spcBef>
            </a:pPr>
            <a:r>
              <a:rPr sz="1800">
                <a:solidFill>
                  <a:srgbClr val="1F2A33"/>
                </a:solidFill>
                <a:latin typeface="Arial"/>
              </a:rPr>
              <a:t>• hci_specification</a:t>
            </a:r>
          </a:p>
          <a:p>
            <a:pPr>
              <a:spcBef>
                <a:spcPts val="400"/>
              </a:spcBef>
            </a:pPr>
            <a:r>
              <a:rPr sz="1800">
                <a:solidFill>
                  <a:srgbClr val="1F2A33"/>
                </a:solidFill>
                <a:latin typeface="Arial"/>
              </a:rPr>
              <a:t>• hci_synthetic_benchmark</a:t>
            </a:r>
          </a:p>
          <a:p>
            <a:pPr>
              <a:spcBef>
                <a:spcPts val="1000"/>
              </a:spcBef>
            </a:pPr>
            <a:r>
              <a:rPr sz="2000" b="1">
                <a:solidFill>
                  <a:srgbClr val="8B1E3F"/>
                </a:solidFill>
                <a:latin typeface="Arial"/>
              </a:rPr>
              <a:t>Tests</a:t>
            </a:r>
          </a:p>
          <a:p>
            <a:pPr>
              <a:spcBef>
                <a:spcPts val="400"/>
              </a:spcBef>
            </a:pPr>
            <a:r>
              <a:rPr sz="1800">
                <a:solidFill>
                  <a:srgbClr val="1F2A33"/>
                </a:solidFill>
                <a:latin typeface="Arial"/>
              </a:rPr>
              <a:t>• 40 HCI tests</a:t>
            </a:r>
          </a:p>
          <a:p>
            <a:pPr>
              <a:spcBef>
                <a:spcPts val="400"/>
              </a:spcBef>
            </a:pPr>
            <a:r>
              <a:rPr sz="1800">
                <a:solidFill>
                  <a:srgbClr val="1F2A33"/>
                </a:solidFill>
                <a:latin typeface="Arial"/>
              </a:rPr>
              <a:t>• Axioms, topology, parity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600" b="1">
                <a:solidFill>
                  <a:srgbClr val="FFFFFF"/>
                </a:solidFill>
                <a:latin typeface="Arial"/>
              </a:rPr>
              <a:t>Caveats and limitations</a:t>
            </a:r>
          </a:p>
        </p:txBody>
      </p:sp>
      <p:sp>
        <p:nvSpPr>
          <p:cNvPr id="3" name="Rectangle 2"/>
          <p:cNvSpPr/>
          <p:nvPr/>
        </p:nvSpPr>
        <p:spPr>
          <a:xfrm>
            <a:off x="0" y="6199632"/>
            <a:ext cx="12191695"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000" b="0">
                <a:solidFill>
                  <a:srgbClr val="FFFFFF"/>
                </a:solidFill>
                <a:latin typeface="Arial"/>
              </a:rPr>
              <a:t>HCI is experimental: validated on synthetic axioms, awaiting field data and property correlation</a:t>
            </a:r>
          </a:p>
        </p:txBody>
      </p:sp>
      <p:sp>
        <p:nvSpPr>
          <p:cNvPr id="4" name="TextBox 3"/>
          <p:cNvSpPr txBox="1"/>
          <p:nvPr/>
        </p:nvSpPr>
        <p:spPr>
          <a:xfrm>
            <a:off x="365760" y="914400"/>
            <a:ext cx="5120640" cy="5212080"/>
          </a:xfrm>
          <a:prstGeom prst="rect">
            <a:avLst/>
          </a:prstGeom>
          <a:noFill/>
        </p:spPr>
        <p:txBody>
          <a:bodyPr wrap="square" lIns="45720" rIns="45720">
            <a:spAutoFit/>
          </a:bodyPr>
          <a:lstStyle/>
          <a:p>
            <a:pPr>
              <a:spcBef>
                <a:spcPts val="1000"/>
              </a:spcBef>
            </a:pPr>
            <a:r>
              <a:rPr sz="2000" b="1">
                <a:solidFill>
                  <a:srgbClr val="8B1E3F"/>
                </a:solidFill>
                <a:latin typeface="Arial"/>
              </a:rPr>
              <a:t>Comparability</a:t>
            </a:r>
          </a:p>
          <a:p>
            <a:pPr>
              <a:spcBef>
                <a:spcPts val="400"/>
              </a:spcBef>
            </a:pPr>
            <a:r>
              <a:rPr sz="1800">
                <a:solidFill>
                  <a:srgbClr val="1F2A33"/>
                </a:solidFill>
                <a:latin typeface="Arial"/>
              </a:rPr>
              <a:t>• Auto δ_max differs per image: fix δ_max to compare</a:t>
            </a:r>
          </a:p>
          <a:p>
            <a:pPr>
              <a:spcBef>
                <a:spcPts val="400"/>
              </a:spcBef>
            </a:pPr>
            <a:r>
              <a:rPr sz="1800">
                <a:solidFill>
                  <a:srgbClr val="1F2A33"/>
                </a:solidFill>
                <a:latin typeface="Arial"/>
              </a:rPr>
              <a:t>• Same pixel size and reference length</a:t>
            </a:r>
          </a:p>
          <a:p>
            <a:pPr>
              <a:spcBef>
                <a:spcPts val="1000"/>
              </a:spcBef>
            </a:pPr>
            <a:r>
              <a:rPr sz="2000" b="1">
                <a:solidFill>
                  <a:srgbClr val="0E7C86"/>
                </a:solidFill>
                <a:latin typeface="Arial"/>
              </a:rPr>
              <a:t>Physics</a:t>
            </a:r>
          </a:p>
          <a:p>
            <a:pPr>
              <a:spcBef>
                <a:spcPts val="400"/>
              </a:spcBef>
            </a:pPr>
            <a:r>
              <a:rPr sz="1800">
                <a:solidFill>
                  <a:srgbClr val="1F2A33"/>
                </a:solidFill>
                <a:latin typeface="Arial"/>
              </a:rPr>
              <a:t>• 2D section: out-of-plane links unseen</a:t>
            </a:r>
          </a:p>
          <a:p>
            <a:pPr>
              <a:spcBef>
                <a:spcPts val="400"/>
              </a:spcBef>
            </a:pPr>
            <a:r>
              <a:rPr sz="1800">
                <a:solidFill>
                  <a:srgbClr val="1F2A33"/>
                </a:solidFill>
                <a:latin typeface="Arial"/>
              </a:rPr>
              <a:t>• Depends on Af across morphologies</a:t>
            </a:r>
          </a:p>
          <a:p>
            <a:pPr>
              <a:spcBef>
                <a:spcPts val="400"/>
              </a:spcBef>
            </a:pPr>
            <a:r>
              <a:rPr sz="1800">
                <a:solidFill>
                  <a:srgbClr val="1F2A33"/>
                </a:solidFill>
                <a:latin typeface="Arial"/>
              </a:rPr>
              <a:t>• No mechanical correlation yet</a:t>
            </a:r>
          </a:p>
          <a:p>
            <a:pPr>
              <a:spcBef>
                <a:spcPts val="1000"/>
              </a:spcBef>
            </a:pPr>
            <a:r>
              <a:rPr sz="2000" b="1">
                <a:solidFill>
                  <a:srgbClr val="B86E00"/>
                </a:solidFill>
                <a:latin typeface="Arial"/>
              </a:rPr>
              <a:t>Image quality</a:t>
            </a:r>
          </a:p>
          <a:p>
            <a:pPr>
              <a:spcBef>
                <a:spcPts val="400"/>
              </a:spcBef>
            </a:pPr>
            <a:r>
              <a:rPr sz="1800">
                <a:solidFill>
                  <a:srgbClr val="1F2A33"/>
                </a:solidFill>
                <a:latin typeface="Arial"/>
              </a:rPr>
              <a:t>• Border clusters truncated (lower bound)</a:t>
            </a:r>
          </a:p>
          <a:p>
            <a:pPr>
              <a:spcBef>
                <a:spcPts val="400"/>
              </a:spcBef>
            </a:pPr>
            <a:r>
              <a:rPr sz="1800">
                <a:solidFill>
                  <a:srgbClr val="1F2A33"/>
                </a:solidFill>
                <a:latin typeface="Arial"/>
              </a:rPr>
              <a:t>• Thin masks (&lt; 3 px): topology unreliable</a:t>
            </a:r>
          </a:p>
          <a:p>
            <a:pPr>
              <a:spcBef>
                <a:spcPts val="1000"/>
              </a:spcBef>
            </a:pPr>
            <a:r>
              <a:rPr sz="2000" b="1">
                <a:solidFill>
                  <a:srgbClr val="1D3557"/>
                </a:solidFill>
                <a:latin typeface="Arial"/>
              </a:rPr>
              <a:t>Performance</a:t>
            </a:r>
          </a:p>
          <a:p>
            <a:pPr>
              <a:spcBef>
                <a:spcPts val="400"/>
              </a:spcBef>
            </a:pPr>
            <a:r>
              <a:rPr sz="1800">
                <a:solidFill>
                  <a:srgbClr val="1F2A33"/>
                </a:solidFill>
                <a:latin typeface="Arial"/>
              </a:rPr>
              <a:t>• 2048² mask ≈ 8 s on one core</a:t>
            </a:r>
          </a:p>
        </p:txBody>
      </p:sp>
      <p:pic>
        <p:nvPicPr>
          <p:cNvPr id="5" name="Picture 4" descr="ui_hci_panel.png"/>
          <p:cNvPicPr>
            <a:picLocks noChangeAspect="1"/>
          </p:cNvPicPr>
          <p:nvPr/>
        </p:nvPicPr>
        <p:blipFill>
          <a:blip r:embed="rId3"/>
          <a:stretch>
            <a:fillRect/>
          </a:stretch>
        </p:blipFill>
        <p:spPr>
          <a:xfrm>
            <a:off x="5669280" y="1100174"/>
            <a:ext cx="6293815" cy="1457250"/>
          </a:xfrm>
          <a:prstGeom prst="rect">
            <a:avLst/>
          </a:prstGeom>
        </p:spPr>
      </p:pic>
      <p:pic>
        <p:nvPicPr>
          <p:cNvPr id="6" name="Picture 5" descr="real200_stage3.png"/>
          <p:cNvPicPr>
            <a:picLocks noChangeAspect="1"/>
          </p:cNvPicPr>
          <p:nvPr/>
        </p:nvPicPr>
        <p:blipFill>
          <a:blip r:embed="rId4"/>
          <a:stretch>
            <a:fillRect/>
          </a:stretch>
        </p:blipFill>
        <p:spPr>
          <a:xfrm>
            <a:off x="5669279" y="3805634"/>
            <a:ext cx="6293815" cy="1377282"/>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600" b="1">
                <a:solidFill>
                  <a:srgbClr val="FFFFFF"/>
                </a:solidFill>
                <a:latin typeface="Arial"/>
              </a:rPr>
              <a:t>Summary and next steps</a:t>
            </a:r>
          </a:p>
        </p:txBody>
      </p:sp>
      <p:sp>
        <p:nvSpPr>
          <p:cNvPr id="3" name="Rectangle 2"/>
          <p:cNvSpPr/>
          <p:nvPr/>
        </p:nvSpPr>
        <p:spPr>
          <a:xfrm>
            <a:off x="0" y="6199632"/>
            <a:ext cx="12191695" cy="6583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8288" bIns="18288" wrap="square"/>
          <a:lstStyle/>
          <a:p>
            <a:pPr algn="ctr"/>
            <a:r>
              <a:rPr sz="2000" b="0">
                <a:solidFill>
                  <a:srgbClr val="FFFFFF"/>
                </a:solidFill>
                <a:latin typeface="Arial"/>
              </a:rPr>
              <a:t>HCI v1 is specified, validated on synthetic data, implemented, and ready for field-data validation</a:t>
            </a:r>
          </a:p>
        </p:txBody>
      </p:sp>
      <p:sp>
        <p:nvSpPr>
          <p:cNvPr id="4" name="TextBox 3"/>
          <p:cNvSpPr txBox="1"/>
          <p:nvPr/>
        </p:nvSpPr>
        <p:spPr>
          <a:xfrm>
            <a:off x="365760" y="914400"/>
            <a:ext cx="4206240" cy="5212080"/>
          </a:xfrm>
          <a:prstGeom prst="rect">
            <a:avLst/>
          </a:prstGeom>
          <a:noFill/>
        </p:spPr>
        <p:txBody>
          <a:bodyPr wrap="square" lIns="45720" rIns="45720">
            <a:spAutoFit/>
          </a:bodyPr>
          <a:lstStyle/>
          <a:p>
            <a:pPr>
              <a:spcBef>
                <a:spcPts val="1000"/>
              </a:spcBef>
            </a:pPr>
            <a:r>
              <a:rPr sz="2000" b="1">
                <a:solidFill>
                  <a:srgbClr val="0E7C86"/>
                </a:solidFill>
                <a:latin typeface="Arial"/>
              </a:rPr>
              <a:t>Delivered</a:t>
            </a:r>
          </a:p>
          <a:p>
            <a:pPr>
              <a:spcBef>
                <a:spcPts val="400"/>
              </a:spcBef>
            </a:pPr>
            <a:r>
              <a:rPr sz="1800">
                <a:solidFill>
                  <a:srgbClr val="1F2A33"/>
                </a:solidFill>
                <a:latin typeface="Arial"/>
              </a:rPr>
              <a:t>• Specification, theory, proofs</a:t>
            </a:r>
          </a:p>
          <a:p>
            <a:pPr>
              <a:spcBef>
                <a:spcPts val="400"/>
              </a:spcBef>
            </a:pPr>
            <a:r>
              <a:rPr sz="1800">
                <a:solidFill>
                  <a:srgbClr val="1F2A33"/>
                </a:solidFill>
                <a:latin typeface="Arial"/>
              </a:rPr>
              <a:t>• 203-mask constant-Af benchmark</a:t>
            </a:r>
          </a:p>
          <a:p>
            <a:pPr>
              <a:spcBef>
                <a:spcPts val="400"/>
              </a:spcBef>
            </a:pPr>
            <a:r>
              <a:rPr sz="1800">
                <a:solidFill>
                  <a:srgbClr val="1F2A33"/>
                </a:solidFill>
                <a:latin typeface="Arial"/>
              </a:rPr>
              <a:t>• Library, CLI, web (on by default)</a:t>
            </a:r>
          </a:p>
          <a:p>
            <a:pPr>
              <a:spcBef>
                <a:spcPts val="400"/>
              </a:spcBef>
            </a:pPr>
            <a:r>
              <a:rPr sz="1800">
                <a:solidFill>
                  <a:srgbClr val="1F2A33"/>
                </a:solidFill>
                <a:latin typeface="Arial"/>
              </a:rPr>
              <a:t>• 40 tests; exact topology</a:t>
            </a:r>
          </a:p>
          <a:p>
            <a:pPr>
              <a:spcBef>
                <a:spcPts val="400"/>
              </a:spcBef>
            </a:pPr>
            <a:r>
              <a:rPr sz="1800">
                <a:solidFill>
                  <a:srgbClr val="1F2A33"/>
                </a:solidFill>
                <a:latin typeface="Arial"/>
              </a:rPr>
              <a:t>• Report images analysed</a:t>
            </a:r>
          </a:p>
          <a:p>
            <a:pPr>
              <a:spcBef>
                <a:spcPts val="1000"/>
              </a:spcBef>
            </a:pPr>
            <a:r>
              <a:rPr sz="2000" b="1">
                <a:solidFill>
                  <a:srgbClr val="8B1E3F"/>
                </a:solidFill>
                <a:latin typeface="Arial"/>
              </a:rPr>
              <a:t>Next</a:t>
            </a:r>
          </a:p>
          <a:p>
            <a:pPr>
              <a:spcBef>
                <a:spcPts val="400"/>
              </a:spcBef>
            </a:pPr>
            <a:r>
              <a:rPr sz="1800">
                <a:solidFill>
                  <a:srgbClr val="1F2A33"/>
                </a:solidFill>
                <a:latin typeface="Arial"/>
              </a:rPr>
              <a:t>• Field-data validation</a:t>
            </a:r>
          </a:p>
          <a:p>
            <a:pPr>
              <a:spcBef>
                <a:spcPts val="400"/>
              </a:spcBef>
            </a:pPr>
            <a:r>
              <a:rPr sz="1800">
                <a:solidFill>
                  <a:srgbClr val="1F2A33"/>
                </a:solidFill>
                <a:latin typeface="Arial"/>
              </a:rPr>
              <a:t>• Fixed-δ_max comparison protocol</a:t>
            </a:r>
          </a:p>
          <a:p>
            <a:pPr>
              <a:spcBef>
                <a:spcPts val="400"/>
              </a:spcBef>
            </a:pPr>
            <a:r>
              <a:rPr sz="1800">
                <a:solidFill>
                  <a:srgbClr val="1F2A33"/>
                </a:solidFill>
                <a:latin typeface="Arial"/>
              </a:rPr>
              <a:t>• Desktop card; faster path solver</a:t>
            </a:r>
          </a:p>
          <a:p>
            <a:pPr>
              <a:spcBef>
                <a:spcPts val="400"/>
              </a:spcBef>
            </a:pPr>
            <a:r>
              <a:rPr sz="1800">
                <a:solidFill>
                  <a:srgbClr val="1F2A33"/>
                </a:solidFill>
                <a:latin typeface="Arial"/>
              </a:rPr>
              <a:t>• Manuscript</a:t>
            </a:r>
          </a:p>
        </p:txBody>
      </p:sp>
      <p:pic>
        <p:nvPicPr>
          <p:cNvPr id="5" name="Picture 4" descr="problem_same_af.png"/>
          <p:cNvPicPr>
            <a:picLocks noChangeAspect="1"/>
          </p:cNvPicPr>
          <p:nvPr/>
        </p:nvPicPr>
        <p:blipFill>
          <a:blip r:embed="rId3"/>
          <a:stretch>
            <a:fillRect/>
          </a:stretch>
        </p:blipFill>
        <p:spPr>
          <a:xfrm>
            <a:off x="4663440" y="2062741"/>
            <a:ext cx="7299655" cy="280566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